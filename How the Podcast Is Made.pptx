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built a podcast in which no human speaks and which almost no human writes. In the next ten minutes I'll show how it works, what went wrong, and what was surprisingly easy. All images, including this cover, were made with Nano Banana Pro.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I build this at all? Many podcasts about tech are one-sided. Either everything is the future, or everything is dangerous. I wanted a show that always looks at both sides of a story. So I invented two virtual hosts: one is always in favour, the other always against. The listener gets both arguments and can decide for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format: two characters argue about the week's news. Sommer, German for summer, is always in favour. Mondschein, German for moonlight, is always against. Both are invented characters with a biography, a way of speaking and a running gag; all of that lives in one file. One rule matters: each of them concedes at least one point per episode, so it stays a conversation and doesn't become a fight.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all started with a text file of seven steps, written the way I'd explain the job to an intern. Each step writes one file into its own folder, numbered 01 to 09. That has two benefits: I can read and correct every intermediate result. And if a run breaks, the next one picks up exactly where it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5 are done entirely by Claude: reading the feeds, researching, selecting, writing. What I contributed are the rules: who the characters are, how long an episode should be, that the intro needs a joke. Example from episode 1: the doorbell camera that recognises the mail carrier as a family member. In episode 2 the podcast supposedly had to be renamed.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voices were the biggest tinkering job. I tried local models that run on my own machine, and Gemini. In the end ElevenLabs clearly won, because the two voices really sound like a conversation. To catch mistakes, Whisper transcribes every episode back into text and a script compares it with the original. [Optional: play a 20-second sample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from day one: I wake up on Sunday and the new episode is there. No laptop of mine is involved. Claude Code runs in the cloud, does steps one to six, and pushes the result to GitHub. A GitHub workflow then publishes it on the website and in the podcast feed. On the next slide: how that is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this up took one slash command. In Claude Code I typed /schedule and described the job. That creates a routine in Anthropic's cloud, here every Sunday at 03:00 UTC. The routine's prompt is a single sentence: read routine/sonntag.md and run it. So all the real instructions live in the repository, and I change the routine by editing a text file. Each run starts a fresh session with the private GitHub repo checked out. The API keys are added by the cloud environment, they are never in the code. After every step Claude commits, so if a run is cut off, for example by a usage limit, the next run continues there. That actually happened on the very first Sunday. At the end, the push triggers a GitHub workflow that creates a release and updates the website, and Claude writes a short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GitHub Actions at all? The cloud session where Claude runs is deliberately limited: it may not create releases and it cannot upload to Cloudflare. So Claude only pushes the finished episode to a branch named folge plus the date. That push triggers a workflow, which does five things. First, it creates a GitHub release with the MP3, chapters, transcript, the Spotify text and the thumbnail. Second, it downloads the older episodes from the live site and builds the website and the RSS feed. Third, it deploys the site to Cloudflare Pages; the access token is stored as a secret in GitHub, never in the code. Fourth, it writes back to main that the episode is published. Fifth, it deletes the branch, so the large MP3 files don't pile up in the repository. Apple Podcasts and YouTube then pick up the new episode from the feed by themselves. Meanwhile Claude waits for the workflow, checks the result and writes its report. [Optional: show the Actions tab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was hard? Surprisingly little. Research: no problem. Writing the script: no problem. Images with Nano Banana Pro: no problem. The music for the intro and the breaks between topics, made with Suno: no problem. Generating the voices was easy too. The one real problem is abbreviations. The German word for AI, KI, came out wrong at first. IT, USA, CIA: some are spelled out the German way, some the English way. I fixed that with a list of pronunciation rules, and I check each new rule by ear before it goes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listening. If you want to hear it: the website, or search for Pro und Contra on Spotify, Apple or YouTube. And if you want to see how it is built in detail, the complete project is public on GitHub.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4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4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6213A"/>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53261"/>
            <a:ext cx="10566400" cy="4091939"/>
          </a:xfrm>
          <a:prstGeom prst="rect">
            <a:avLst/>
          </a:prstGeom>
          <a:noFill/>
          <a:ln/>
        </p:spPr>
        <p:txBody>
          <a:bodyPr wrap="square" lIns="0" tIns="0" rIns="0" bIns="0" rtlCol="0" anchor="t"/>
          <a:lstStyle>
            <a:lvl1pPr algn="l" indent="0" marL="0">
              <a:lnSpc>
                <a:spcPct val="140000"/>
              </a:lnSpc>
              <a:buNone/>
              <a:defRPr lang="en-US" sz="1600" dirty="0">
                <a:solidFill>
                  <a:srgbClr val="1621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4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4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6213A"/>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53261"/>
            <a:ext cx="10566400" cy="4091939"/>
          </a:xfrm>
          <a:prstGeom prst="rect">
            <a:avLst/>
          </a:prstGeom>
          <a:noFill/>
          <a:ln/>
        </p:spPr>
        <p:txBody>
          <a:bodyPr wrap="square" lIns="0" tIns="0" rIns="0" bIns="0" rtlCol="0" anchor="t"/>
          <a:lstStyle>
            <a:lvl1pPr algn="l" indent="0" marL="0">
              <a:lnSpc>
                <a:spcPct val="140000"/>
              </a:lnSpc>
              <a:buNone/>
              <a:defRPr lang="en-US" sz="1600" dirty="0">
                <a:solidFill>
                  <a:srgbClr val="1621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A"/>
        </a:solidFill>
      </p:bgPr>
    </p:bg>
    <p:spTree>
      <p:nvGrpSpPr>
        <p:cNvPr id="1" name=""/>
        <p:cNvGrpSpPr/>
        <p:nvPr/>
      </p:nvGrpSpPr>
      <p:grpSpPr>
        <a:xfrm>
          <a:off x="0" y="0"/>
          <a:ext cx="0" cy="0"/>
          <a:chOff x="0" y="0"/>
          <a:chExt cx="0" cy="0"/>
        </a:xfrm>
      </p:grpSpPr>
      <p:sp>
        <p:nvSpPr>
          <p:cNvPr id="2" name="Text 0"/>
          <p:cNvSpPr/>
          <p:nvPr/>
        </p:nvSpPr>
        <p:spPr>
          <a:xfrm>
            <a:off x="812800" y="1305560"/>
            <a:ext cx="4866132" cy="30988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2A341"/>
                </a:solidFill>
                <a:latin typeface="Arial" pitchFamily="34" charset="0"/>
                <a:ea typeface="Arial" pitchFamily="34" charset="-122"/>
                <a:cs typeface="Arial" pitchFamily="34" charset="-120"/>
              </a:rPr>
              <a:t>A WORKSHOP REPORT</a:t>
            </a:r>
            <a:endParaRPr lang="en-US" sz="1600" dirty="0"/>
          </a:p>
        </p:txBody>
      </p:sp>
      <p:sp>
        <p:nvSpPr>
          <p:cNvPr id="3" name="Text 1"/>
          <p:cNvSpPr/>
          <p:nvPr>
            <p:ph type="title"/>
          </p:nvPr>
        </p:nvSpPr>
        <p:spPr>
          <a:xfrm>
            <a:off x="812800" y="1844040"/>
            <a:ext cx="4866132" cy="24257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BF4E8"/>
                </a:solidFill>
                <a:latin typeface="Arial" pitchFamily="34" charset="0"/>
                <a:ea typeface="Arial" pitchFamily="34" charset="-122"/>
                <a:cs typeface="Arial" pitchFamily="34" charset="-120"/>
              </a:rPr>
              <a:t>A podcast nobody speaks</a:t>
            </a:r>
            <a:endParaRPr lang="en-US" sz="6000" dirty="0"/>
          </a:p>
        </p:txBody>
      </p:sp>
      <p:sp>
        <p:nvSpPr>
          <p:cNvPr id="4" name="Text 2"/>
          <p:cNvSpPr/>
          <p:nvPr/>
        </p:nvSpPr>
        <p:spPr>
          <a:xfrm>
            <a:off x="812800" y="4498340"/>
            <a:ext cx="486613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Arial" pitchFamily="34" charset="0"/>
                <a:ea typeface="Arial" pitchFamily="34" charset="-122"/>
                <a:cs typeface="Arial" pitchFamily="34" charset="-120"/>
              </a:rPr>
              <a:t>How “Pro und Contra – KI- und IT-News” is made every week</a:t>
            </a:r>
            <a:endParaRPr lang="en-US" sz="1600" dirty="0"/>
          </a:p>
        </p:txBody>
      </p:sp>
      <p:sp>
        <p:nvSpPr>
          <p:cNvPr id="5" name="Text 3"/>
          <p:cNvSpPr/>
          <p:nvPr/>
        </p:nvSpPr>
        <p:spPr>
          <a:xfrm>
            <a:off x="812800" y="5321300"/>
            <a:ext cx="48661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3"/>
                </a:solidFill>
                <a:latin typeface="Arial" pitchFamily="34" charset="0"/>
                <a:ea typeface="Arial" pitchFamily="34" charset="-122"/>
                <a:cs typeface="Arial" pitchFamily="34" charset="-120"/>
              </a:rPr>
              <a:t>Stefan Gernhardt · Curiosity Hour · 14 October 2026</a:t>
            </a:r>
            <a:endParaRPr lang="en-US" sz="1300" dirty="0"/>
          </a:p>
        </p:txBody>
      </p:sp>
      <p:pic>
        <p:nvPicPr>
          <p:cNvPr id="6" name="Image 0" descr="Podcast cover: Mr Sommer on the sunny side, Mr Mondschein on the night side, microphones and a laptop between them">    </p:cNvPr>
          <p:cNvPicPr>
            <a:picLocks noChangeAspect="1"/>
          </p:cNvPicPr>
          <p:nvPr/>
        </p:nvPicPr>
        <p:blipFill>
          <a:blip r:embed="rId1"/>
          <a:srcRect l="0" r="0" t="0" b="0"/>
          <a:stretch/>
        </p:blipFill>
        <p:spPr>
          <a:xfrm>
            <a:off x="6146800" y="812800"/>
            <a:ext cx="5232400" cy="5232400"/>
          </a:xfrm>
          <a:prstGeom prst="roundRect">
            <a:avLst>
              <a:gd name="adj" fmla="val 2913"/>
            </a:avLst>
          </a:prstGeom>
        </p:spPr>
      </p:pic>
      <p:sp>
        <p:nvSpPr>
          <p:cNvPr id="7" name="Text 4"/>
          <p:cNvSpPr/>
          <p:nvPr/>
        </p:nvSpPr>
        <p:spPr>
          <a:xfrm>
            <a:off x="5989828" y="6238240"/>
            <a:ext cx="538937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6AB"/>
                </a:solidFill>
                <a:latin typeface="Arial" pitchFamily="34" charset="0"/>
                <a:ea typeface="Arial" pitchFamily="34" charset="-122"/>
                <a:cs typeface="Arial" pitchFamily="34" charset="-120"/>
              </a:rPr>
              <a:t>Cover art: Nano Banana Pro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9A4E12"/>
                </a:solidFill>
                <a:latin typeface="Arial" pitchFamily="34" charset="0"/>
                <a:ea typeface="Arial" pitchFamily="34" charset="-122"/>
                <a:cs typeface="Arial" pitchFamily="34" charset="-120"/>
              </a:rPr>
              <a:t>WHY</a:t>
            </a:r>
            <a:endParaRPr lang="en-US" sz="1300" dirty="0"/>
          </a:p>
        </p:txBody>
      </p:sp>
      <p:sp>
        <p:nvSpPr>
          <p:cNvPr id="3" name="Text 1"/>
          <p:cNvSpPr/>
          <p:nvPr>
            <p:ph type="title"/>
          </p:nvPr>
        </p:nvSpPr>
        <p:spPr>
          <a:xfrm>
            <a:off x="812800" y="11455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6213A"/>
                </a:solidFill>
                <a:latin typeface="Arial" pitchFamily="34" charset="0"/>
                <a:ea typeface="Arial" pitchFamily="34" charset="-122"/>
                <a:cs typeface="Arial" pitchFamily="34" charset="-120"/>
              </a:rPr>
              <a:t>Most podcasts only tell one side</a:t>
            </a:r>
            <a:endParaRPr lang="en-US" sz="6000" dirty="0"/>
          </a:p>
        </p:txBody>
      </p:sp>
      <p:sp>
        <p:nvSpPr>
          <p:cNvPr id="4" name="Shape 2"/>
          <p:cNvSpPr/>
          <p:nvPr/>
        </p:nvSpPr>
        <p:spPr>
          <a:xfrm>
            <a:off x="812800" y="4226560"/>
            <a:ext cx="5130800" cy="1615440"/>
          </a:xfrm>
          <a:prstGeom prst="roundRect">
            <a:avLst>
              <a:gd name="adj" fmla="val 6289"/>
            </a:avLst>
          </a:prstGeom>
          <a:solidFill>
            <a:srgbClr val="EFE3CF"/>
          </a:solidFill>
          <a:ln/>
        </p:spPr>
      </p:sp>
      <p:sp>
        <p:nvSpPr>
          <p:cNvPr id="5" name="Text 3"/>
          <p:cNvSpPr/>
          <p:nvPr/>
        </p:nvSpPr>
        <p:spPr>
          <a:xfrm>
            <a:off x="1117600" y="4531360"/>
            <a:ext cx="465683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4A5568"/>
                </a:solidFill>
                <a:latin typeface="Arial" pitchFamily="34" charset="0"/>
                <a:ea typeface="Arial" pitchFamily="34" charset="-122"/>
                <a:cs typeface="Arial" pitchFamily="34" charset="-120"/>
              </a:rPr>
              <a:t>The usual tech podcast</a:t>
            </a:r>
            <a:endParaRPr lang="en-US" sz="2200" dirty="0"/>
          </a:p>
        </p:txBody>
      </p:sp>
      <p:sp>
        <p:nvSpPr>
          <p:cNvPr id="6" name="Text 4"/>
          <p:cNvSpPr/>
          <p:nvPr/>
        </p:nvSpPr>
        <p:spPr>
          <a:xfrm>
            <a:off x="1117600" y="4968240"/>
            <a:ext cx="4656836"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Either excited about every new gadget, or worried about all of them.</a:t>
            </a:r>
            <a:endParaRPr lang="en-US" sz="1600" dirty="0"/>
          </a:p>
        </p:txBody>
      </p:sp>
      <p:sp>
        <p:nvSpPr>
          <p:cNvPr id="7" name="Shape 5"/>
          <p:cNvSpPr/>
          <p:nvPr/>
        </p:nvSpPr>
        <p:spPr>
          <a:xfrm>
            <a:off x="6248400" y="4226560"/>
            <a:ext cx="5130800" cy="1615440"/>
          </a:xfrm>
          <a:prstGeom prst="roundRect">
            <a:avLst>
              <a:gd name="adj" fmla="val 6289"/>
            </a:avLst>
          </a:prstGeom>
          <a:solidFill>
            <a:srgbClr val="16213A"/>
          </a:solidFill>
          <a:ln/>
        </p:spPr>
      </p:sp>
      <p:sp>
        <p:nvSpPr>
          <p:cNvPr id="8" name="Text 6"/>
          <p:cNvSpPr/>
          <p:nvPr/>
        </p:nvSpPr>
        <p:spPr>
          <a:xfrm>
            <a:off x="6553200" y="4531360"/>
            <a:ext cx="465683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341"/>
                </a:solidFill>
                <a:latin typeface="Arial" pitchFamily="34" charset="0"/>
                <a:ea typeface="Arial" pitchFamily="34" charset="-122"/>
                <a:cs typeface="Arial" pitchFamily="34" charset="-120"/>
              </a:rPr>
              <a:t>Pro und Contra</a:t>
            </a:r>
            <a:endParaRPr lang="en-US" sz="2200" dirty="0"/>
          </a:p>
        </p:txBody>
      </p:sp>
      <p:sp>
        <p:nvSpPr>
          <p:cNvPr id="9" name="Text 7"/>
          <p:cNvSpPr/>
          <p:nvPr/>
        </p:nvSpPr>
        <p:spPr>
          <a:xfrm>
            <a:off x="6553200" y="4968240"/>
            <a:ext cx="4656836"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F4E8"/>
                </a:solidFill>
                <a:latin typeface="Arial" pitchFamily="34" charset="0"/>
                <a:ea typeface="Arial" pitchFamily="34" charset="-122"/>
                <a:cs typeface="Arial" pitchFamily="34" charset="-120"/>
              </a:rPr>
              <a:t>Two virtual hosts. One always argues for, the other always against.</a:t>
            </a:r>
            <a:endParaRPr lang="en-US" sz="1600" dirty="0"/>
          </a:p>
        </p:txBody>
      </p:sp>
      <p:sp>
        <p:nvSpPr>
          <p:cNvPr id="10" name="Text 8"/>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9A4E12"/>
                </a:solidFill>
                <a:latin typeface="Arial" pitchFamily="34" charset="0"/>
                <a:ea typeface="Arial" pitchFamily="34" charset="-122"/>
                <a:cs typeface="Arial" pitchFamily="34" charset="-120"/>
              </a:rPr>
              <a:t>THE IDEA</a:t>
            </a:r>
            <a:endParaRPr lang="en-US" sz="1300" dirty="0"/>
          </a:p>
        </p:txBody>
      </p:sp>
      <p:sp>
        <p:nvSpPr>
          <p:cNvPr id="3" name="Text 1"/>
          <p:cNvSpPr/>
          <p:nvPr>
            <p:ph type="title"/>
          </p:nvPr>
        </p:nvSpPr>
        <p:spPr>
          <a:xfrm>
            <a:off x="812800" y="114554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3A"/>
                </a:solidFill>
                <a:latin typeface="Arial" pitchFamily="34" charset="0"/>
                <a:ea typeface="Arial" pitchFamily="34" charset="-122"/>
                <a:cs typeface="Arial" pitchFamily="34" charset="-120"/>
              </a:rPr>
              <a:t>Two hosts who don’t exist</a:t>
            </a:r>
            <a:endParaRPr lang="en-US" sz="3600" dirty="0"/>
          </a:p>
        </p:txBody>
      </p:sp>
      <p:sp>
        <p:nvSpPr>
          <p:cNvPr id="4" name="Shape 2"/>
          <p:cNvSpPr/>
          <p:nvPr/>
        </p:nvSpPr>
        <p:spPr>
          <a:xfrm>
            <a:off x="812800" y="2004061"/>
            <a:ext cx="5130800" cy="2413000"/>
          </a:xfrm>
          <a:prstGeom prst="roundRect">
            <a:avLst>
              <a:gd name="adj" fmla="val 4211"/>
            </a:avLst>
          </a:prstGeom>
          <a:solidFill>
            <a:srgbClr val="FFFFFF"/>
          </a:solidFill>
          <a:ln/>
          <a:effectLst>
            <a:outerShdw sx="100000" sy="100000" kx="0" ky="0" algn="bl" rotWithShape="0" blurRad="152400" dist="50800" dir="5400000">
              <a:srgbClr val="16213A">
                <a:alpha val="8000"/>
              </a:srgbClr>
            </a:outerShdw>
          </a:effectLst>
        </p:spPr>
      </p:sp>
      <p:sp>
        <p:nvSpPr>
          <p:cNvPr id="5" name="Shape 3"/>
          <p:cNvSpPr/>
          <p:nvPr/>
        </p:nvSpPr>
        <p:spPr>
          <a:xfrm>
            <a:off x="812800" y="2004061"/>
            <a:ext cx="5130800" cy="2413000"/>
          </a:xfrm>
          <a:custGeom>
            <a:avLst/>
            <a:gdLst/>
            <a:ahLst/>
            <a:cxnLst/>
            <a:rect l="l" t="t" r="r" b="b"/>
            <a:pathLst>
              <a:path w="5130800" h="2413000">
                <a:moveTo>
                  <a:pt x="0" y="101600"/>
                </a:moveTo>
                <a:lnTo>
                  <a:pt x="0" y="101600"/>
                </a:lnTo>
                <a:arcTo hR="101600" wR="101600" stAng="10800000" swAng="5400000"/>
                <a:lnTo>
                  <a:pt x="5029200" y="0"/>
                </a:lnTo>
                <a:arcTo hR="101600" wR="101600" stAng="16200000" swAng="5400000"/>
                <a:lnTo>
                  <a:pt x="5130800" y="101600"/>
                </a:lnTo>
                <a:arcTo hR="25400" wR="101600" stAng="0" swAng="-5400000"/>
                <a:lnTo>
                  <a:pt x="101600" y="76200"/>
                </a:lnTo>
                <a:arcTo hR="25400" wR="101600" stAng="16200000" swAng="-5400000"/>
                <a:close/>
              </a:path>
            </a:pathLst>
          </a:custGeom>
          <a:solidFill>
            <a:srgbClr val="F2A341"/>
          </a:solidFill>
          <a:ln/>
        </p:spPr>
      </p:sp>
      <p:sp>
        <p:nvSpPr>
          <p:cNvPr id="6" name="Text 4"/>
          <p:cNvSpPr/>
          <p:nvPr/>
        </p:nvSpPr>
        <p:spPr>
          <a:xfrm>
            <a:off x="1117600" y="2385061"/>
            <a:ext cx="465683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13A"/>
                </a:solidFill>
                <a:latin typeface="Arial" pitchFamily="34" charset="0"/>
                <a:ea typeface="Arial" pitchFamily="34" charset="-122"/>
                <a:cs typeface="Arial" pitchFamily="34" charset="-120"/>
              </a:rPr>
              <a:t>Mr Sommer · Pro</a:t>
            </a:r>
            <a:endParaRPr lang="en-US" sz="2200" dirty="0"/>
          </a:p>
        </p:txBody>
      </p:sp>
      <p:sp>
        <p:nvSpPr>
          <p:cNvPr id="7" name="Text 5"/>
          <p:cNvSpPr/>
          <p:nvPr/>
        </p:nvSpPr>
        <p:spPr>
          <a:xfrm>
            <a:off x="1117600" y="2847341"/>
            <a:ext cx="4656836"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Early 40s, former product manager. Gets excited quickly, but isn’t naive.</a:t>
            </a:r>
            <a:endParaRPr lang="en-US" sz="1600" dirty="0"/>
          </a:p>
        </p:txBody>
      </p:sp>
      <p:sp>
        <p:nvSpPr>
          <p:cNvPr id="8" name="Text 6"/>
          <p:cNvSpPr/>
          <p:nvPr/>
        </p:nvSpPr>
        <p:spPr>
          <a:xfrm>
            <a:off x="1117600" y="3543300"/>
            <a:ext cx="4656836"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Running gag: his smart home, where something always breaks.</a:t>
            </a:r>
            <a:endParaRPr lang="en-US" sz="1600" dirty="0"/>
          </a:p>
        </p:txBody>
      </p:sp>
      <p:sp>
        <p:nvSpPr>
          <p:cNvPr id="9" name="Shape 7"/>
          <p:cNvSpPr/>
          <p:nvPr/>
        </p:nvSpPr>
        <p:spPr>
          <a:xfrm>
            <a:off x="6248400" y="2004061"/>
            <a:ext cx="5130800" cy="2413000"/>
          </a:xfrm>
          <a:prstGeom prst="roundRect">
            <a:avLst>
              <a:gd name="adj" fmla="val 4211"/>
            </a:avLst>
          </a:prstGeom>
          <a:solidFill>
            <a:srgbClr val="16213A"/>
          </a:solidFill>
          <a:ln/>
        </p:spPr>
      </p:sp>
      <p:sp>
        <p:nvSpPr>
          <p:cNvPr id="10" name="Shape 8"/>
          <p:cNvSpPr/>
          <p:nvPr/>
        </p:nvSpPr>
        <p:spPr>
          <a:xfrm>
            <a:off x="6248400" y="2004061"/>
            <a:ext cx="5130800" cy="2413000"/>
          </a:xfrm>
          <a:custGeom>
            <a:avLst/>
            <a:gdLst/>
            <a:ahLst/>
            <a:cxnLst/>
            <a:rect l="l" t="t" r="r" b="b"/>
            <a:pathLst>
              <a:path w="5130800" h="2413000">
                <a:moveTo>
                  <a:pt x="0" y="101600"/>
                </a:moveTo>
                <a:lnTo>
                  <a:pt x="0" y="101600"/>
                </a:lnTo>
                <a:arcTo hR="101600" wR="101600" stAng="10800000" swAng="5400000"/>
                <a:lnTo>
                  <a:pt x="5029200" y="0"/>
                </a:lnTo>
                <a:arcTo hR="101600" wR="101600" stAng="16200000" swAng="5400000"/>
                <a:lnTo>
                  <a:pt x="5130800" y="101600"/>
                </a:lnTo>
                <a:arcTo hR="25400" wR="101600" stAng="0" swAng="-5400000"/>
                <a:lnTo>
                  <a:pt x="101600" y="76200"/>
                </a:lnTo>
                <a:arcTo hR="25400" wR="101600" stAng="16200000" swAng="-5400000"/>
                <a:close/>
              </a:path>
            </a:pathLst>
          </a:custGeom>
          <a:solidFill>
            <a:srgbClr val="8FB3D9"/>
          </a:solidFill>
          <a:ln/>
        </p:spPr>
      </p:sp>
      <p:sp>
        <p:nvSpPr>
          <p:cNvPr id="11" name="Text 9"/>
          <p:cNvSpPr/>
          <p:nvPr/>
        </p:nvSpPr>
        <p:spPr>
          <a:xfrm>
            <a:off x="6553200" y="2385061"/>
            <a:ext cx="465683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BF4E8"/>
                </a:solidFill>
                <a:latin typeface="Arial" pitchFamily="34" charset="0"/>
                <a:ea typeface="Arial" pitchFamily="34" charset="-122"/>
                <a:cs typeface="Arial" pitchFamily="34" charset="-120"/>
              </a:rPr>
              <a:t>Mr Mondschein · Contra</a:t>
            </a:r>
            <a:endParaRPr lang="en-US" sz="2200" dirty="0"/>
          </a:p>
        </p:txBody>
      </p:sp>
      <p:sp>
        <p:nvSpPr>
          <p:cNvPr id="12" name="Text 10"/>
          <p:cNvSpPr/>
          <p:nvPr/>
        </p:nvSpPr>
        <p:spPr>
          <a:xfrm>
            <a:off x="6553200" y="2847341"/>
            <a:ext cx="4656836"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Arial" pitchFamily="34" charset="0"/>
                <a:ea typeface="Arial" pitchFamily="34" charset="-122"/>
                <a:cs typeface="Arial" pitchFamily="34" charset="-120"/>
              </a:rPr>
              <a:t>Late 50s, former IT security admin at a public agency. Calm, dry, ironic.</a:t>
            </a:r>
            <a:endParaRPr lang="en-US" sz="1600" dirty="0"/>
          </a:p>
        </p:txBody>
      </p:sp>
      <p:sp>
        <p:nvSpPr>
          <p:cNvPr id="13" name="Text 11"/>
          <p:cNvSpPr/>
          <p:nvPr/>
        </p:nvSpPr>
        <p:spPr>
          <a:xfrm>
            <a:off x="6553200" y="3543300"/>
            <a:ext cx="4656836"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Arial" pitchFamily="34" charset="0"/>
                <a:ea typeface="Arial" pitchFamily="34" charset="-122"/>
                <a:cs typeface="Arial" pitchFamily="34" charset="-120"/>
              </a:rPr>
              <a:t>Running gag: secretly uses ChatGPT. “Know your enemy.”</a:t>
            </a:r>
            <a:endParaRPr lang="en-US" sz="1600" dirty="0"/>
          </a:p>
        </p:txBody>
      </p:sp>
      <p:sp>
        <p:nvSpPr>
          <p:cNvPr id="14" name="Text 12"/>
          <p:cNvSpPr/>
          <p:nvPr/>
        </p:nvSpPr>
        <p:spPr>
          <a:xfrm>
            <a:off x="812800" y="4772661"/>
            <a:ext cx="113792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13A"/>
                </a:solidFill>
                <a:latin typeface="Arial" pitchFamily="34" charset="0"/>
                <a:ea typeface="Arial" pitchFamily="34" charset="-122"/>
                <a:cs typeface="Arial" pitchFamily="34" charset="-120"/>
              </a:rPr>
              <a:t>Every Sunday:</a:t>
            </a:r>
            <a:r>
              <a:rPr lang="en-US" sz="1600" dirty="0">
                <a:solidFill>
                  <a:srgbClr val="16213A"/>
                </a:solidFill>
                <a:latin typeface="Arial" pitchFamily="34" charset="0"/>
                <a:ea typeface="Arial" pitchFamily="34" charset="-122"/>
                <a:cs typeface="Arial" pitchFamily="34" charset="-120"/>
              </a:rPr>
              <a:t> five topics from the German tech site heise, 30 to 35 minutes, in German, since 27 September 2026.</a:t>
            </a:r>
            <a:endParaRPr lang="en-US" sz="1600" dirty="0"/>
          </a:p>
        </p:txBody>
      </p:sp>
      <p:sp>
        <p:nvSpPr>
          <p:cNvPr id="15" name="Text 13"/>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9A4E12"/>
                </a:solidFill>
                <a:latin typeface="Arial" pitchFamily="34" charset="0"/>
                <a:ea typeface="Arial" pitchFamily="34" charset="-122"/>
                <a:cs typeface="Arial" pitchFamily="34" charset="-120"/>
              </a:rPr>
              <a:t>THE WORKSHOP</a:t>
            </a:r>
            <a:endParaRPr lang="en-US" sz="1300" dirty="0"/>
          </a:p>
        </p:txBody>
      </p:sp>
      <p:sp>
        <p:nvSpPr>
          <p:cNvPr id="3" name="Text 1"/>
          <p:cNvSpPr/>
          <p:nvPr>
            <p:ph type="title"/>
          </p:nvPr>
        </p:nvSpPr>
        <p:spPr>
          <a:xfrm>
            <a:off x="812800" y="114554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3A"/>
                </a:solidFill>
                <a:latin typeface="Arial" pitchFamily="34" charset="0"/>
                <a:ea typeface="Arial" pitchFamily="34" charset="-122"/>
                <a:cs typeface="Arial" pitchFamily="34" charset="-120"/>
              </a:rPr>
              <a:t>Seven steps, seven folders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63421"/>
          <a:ext cx="10556240" cy="3068320"/>
        </p:xfrm>
        <a:graphic>
          <a:graphicData uri="http://schemas.openxmlformats.org/drawingml/2006/table">
            <a:tbl>
              <a:tblPr/>
              <a:tblGrid>
                <a:gridCol w="844499"/>
                <a:gridCol w="2111248"/>
                <a:gridCol w="7600493"/>
              </a:tblGrid>
              <a:tr h="383540">
                <a:tc>
                  <a:txBody>
                    <a:bodyPr/>
                    <a:lstStyle/>
                    <a:p>
                      <a:pPr indent="0" marL="0">
                        <a:lnSpc>
                          <a:spcPts val="1960"/>
                        </a:lnSpc>
                        <a:buNone/>
                      </a:pPr>
                      <a:r>
                        <a:rPr lang="en-US" sz="1400" b="1" dirty="0">
                          <a:solidFill>
                            <a:srgbClr val="FBF4E8"/>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indent="0" marL="0">
                        <a:lnSpc>
                          <a:spcPts val="1960"/>
                        </a:lnSpc>
                        <a:buNone/>
                      </a:pPr>
                      <a:r>
                        <a:rPr lang="en-US" sz="1400" b="1" dirty="0">
                          <a:solidFill>
                            <a:srgbClr val="FBF4E8"/>
                          </a:solidFill>
                          <a:latin typeface="Arial" pitchFamily="34" charset="0"/>
                          <a:ea typeface="Arial" pitchFamily="34" charset="-122"/>
                          <a:cs typeface="Arial" pitchFamily="34" charset="-120"/>
                        </a:rPr>
                        <a:t>Step</a:t>
                      </a:r>
                      <a:endParaRPr lang="en-US" sz="1400" dirty="0">
                        <a:latin typeface="Arial" charset="0"/>
                        <a:ea typeface="Arial" charset="0"/>
                        <a:cs typeface="Arial" charset="0"/>
                      </a:endParaRPr>
                    </a:p>
                  </a:txBody>
                  <a:tcPr marL="62230" marR="62230" marT="62230" marB="62230" anchor="t">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indent="0" marL="0">
                        <a:lnSpc>
                          <a:spcPts val="1960"/>
                        </a:lnSpc>
                        <a:buNone/>
                      </a:pPr>
                      <a:r>
                        <a:rPr lang="en-US" sz="1400" b="1" dirty="0">
                          <a:solidFill>
                            <a:srgbClr val="FBF4E8"/>
                          </a:solidFill>
                          <a:latin typeface="Arial" pitchFamily="34" charset="0"/>
                          <a:ea typeface="Arial" pitchFamily="34" charset="-122"/>
                          <a:cs typeface="Arial" pitchFamily="34" charset="-120"/>
                        </a:rPr>
                        <a:t>What happens</a:t>
                      </a:r>
                      <a:endParaRPr lang="en-US" sz="1400" dirty="0">
                        <a:latin typeface="Arial" charset="0"/>
                        <a:ea typeface="Arial" charset="0"/>
                        <a:cs typeface="Arial" charset="0"/>
                      </a:endParaRPr>
                    </a:p>
                  </a:txBody>
                  <a:tcPr marL="62230" marR="62230" marT="62230" marB="62230" anchor="t">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r>
              <a:tr h="383540">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Collect</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All news of the last 7 days from two heise feeds</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540">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2B9A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2B9A9"/>
                      </a:solidFill>
                      <a:prstDash val="solid"/>
                      <a:round/>
                      <a:headEnd type="none" w="med" len="med"/>
                      <a:tailEnd type="none" w="med" len="med"/>
                    </a:lnB>
                    <a:solidFill>
                      <a:srgbClr val="F3E7D3"/>
                    </a:solidFill>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Rank</a:t>
                      </a:r>
                      <a:endParaRPr lang="en-US" sz="1400" dirty="0">
                        <a:latin typeface="Arial" charset="0"/>
                        <a:ea typeface="Arial" charset="0"/>
                        <a:cs typeface="Arial" charset="0"/>
                      </a:endParaRPr>
                    </a:p>
                  </a:txBody>
                  <a:tcPr marL="62230" marR="62230" marT="62230" marB="62230" anchor="t">
                    <a:lnL w="12700" cap="flat" cmpd="sng" algn="ctr">
                      <a:solidFill>
                        <a:srgbClr val="C2B9A9"/>
                      </a:solidFill>
                      <a:prstDash val="solid"/>
                      <a:round/>
                      <a:headEnd type="none" w="med" len="med"/>
                      <a:tailEnd type="none" w="med" len="med"/>
                    </a:lnL>
                    <a:lnR w="12700" cap="flat" cmpd="sng" algn="ctr">
                      <a:solidFill>
                        <a:srgbClr val="C2B9A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2B9A9"/>
                      </a:solidFill>
                      <a:prstDash val="solid"/>
                      <a:round/>
                      <a:headEnd type="none" w="med" len="med"/>
                      <a:tailEnd type="none" w="med" len="med"/>
                    </a:lnB>
                    <a:solidFill>
                      <a:srgbClr val="F3E7D3"/>
                    </a:solidFill>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How much echo did each story get in media and social networks?</a:t>
                      </a:r>
                      <a:endParaRPr lang="en-US" sz="1400" dirty="0">
                        <a:latin typeface="Arial" charset="0"/>
                        <a:ea typeface="Arial" charset="0"/>
                        <a:cs typeface="Arial" charset="0"/>
                      </a:endParaRPr>
                    </a:p>
                  </a:txBody>
                  <a:tcPr marL="62230" marR="62230" marT="62230" marB="62230" anchor="t">
                    <a:lnL w="12700" cap="flat" cmpd="sng" algn="ctr">
                      <a:solidFill>
                        <a:srgbClr val="C2B9A9"/>
                      </a:solidFill>
                      <a:prstDash val="solid"/>
                      <a:round/>
                      <a:headEnd type="none" w="med" len="med"/>
                      <a:tailEnd type="none" w="med" len="med"/>
                    </a:lnL>
                    <a:lnR w="12700" cap="flat" cmpd="sng" algn="ctr">
                      <a:solidFill>
                        <a:srgbClr val="C2B9A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2B9A9"/>
                      </a:solidFill>
                      <a:prstDash val="solid"/>
                      <a:round/>
                      <a:headEnd type="none" w="med" len="med"/>
                      <a:tailEnd type="none" w="med" len="med"/>
                    </a:lnB>
                    <a:solidFill>
                      <a:srgbClr val="F3E7D3"/>
                    </a:solidFill>
                  </a:tcPr>
                </a:tc>
              </a:tr>
              <a:tr h="383540">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2B9A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Select</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2B9A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Listener requests plus the most relevant stories, five in total</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2B9A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540">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2B9A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2B9A9"/>
                      </a:solidFill>
                      <a:prstDash val="solid"/>
                      <a:round/>
                      <a:headEnd type="none" w="med" len="med"/>
                      <a:tailEnd type="none" w="med" len="med"/>
                    </a:lnB>
                    <a:solidFill>
                      <a:srgbClr val="F3E7D3"/>
                    </a:solidFill>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Research</a:t>
                      </a:r>
                      <a:endParaRPr lang="en-US" sz="1400" dirty="0">
                        <a:latin typeface="Arial" charset="0"/>
                        <a:ea typeface="Arial" charset="0"/>
                        <a:cs typeface="Arial" charset="0"/>
                      </a:endParaRPr>
                    </a:p>
                  </a:txBody>
                  <a:tcPr marL="62230" marR="62230" marT="62230" marB="62230" anchor="t">
                    <a:lnL w="12700" cap="flat" cmpd="sng" algn="ctr">
                      <a:solidFill>
                        <a:srgbClr val="C2B9A9"/>
                      </a:solidFill>
                      <a:prstDash val="solid"/>
                      <a:round/>
                      <a:headEnd type="none" w="med" len="med"/>
                      <a:tailEnd type="none" w="med" len="med"/>
                    </a:lnL>
                    <a:lnR w="12700" cap="flat" cmpd="sng" algn="ctr">
                      <a:solidFill>
                        <a:srgbClr val="C2B9A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2B9A9"/>
                      </a:solidFill>
                      <a:prstDash val="solid"/>
                      <a:round/>
                      <a:headEnd type="none" w="med" len="med"/>
                      <a:tailEnd type="none" w="med" len="med"/>
                    </a:lnB>
                    <a:solidFill>
                      <a:srgbClr val="F3E7D3"/>
                    </a:solidFill>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Background, history, similar cases, with sources</a:t>
                      </a:r>
                      <a:endParaRPr lang="en-US" sz="1400" dirty="0">
                        <a:latin typeface="Arial" charset="0"/>
                        <a:ea typeface="Arial" charset="0"/>
                        <a:cs typeface="Arial" charset="0"/>
                      </a:endParaRPr>
                    </a:p>
                  </a:txBody>
                  <a:tcPr marL="62230" marR="62230" marT="62230" marB="62230" anchor="t">
                    <a:lnL w="12700" cap="flat" cmpd="sng" algn="ctr">
                      <a:solidFill>
                        <a:srgbClr val="C2B9A9"/>
                      </a:solidFill>
                      <a:prstDash val="solid"/>
                      <a:round/>
                      <a:headEnd type="none" w="med" len="med"/>
                      <a:tailEnd type="none" w="med" len="med"/>
                    </a:lnL>
                    <a:lnR w="12700" cap="flat" cmpd="sng" algn="ctr">
                      <a:solidFill>
                        <a:srgbClr val="C2B9A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2B9A9"/>
                      </a:solidFill>
                      <a:prstDash val="solid"/>
                      <a:round/>
                      <a:headEnd type="none" w="med" len="med"/>
                      <a:tailEnd type="none" w="med" len="med"/>
                    </a:lnB>
                    <a:solidFill>
                      <a:srgbClr val="F3E7D3"/>
                    </a:solidFill>
                  </a:tcPr>
                </a:tc>
              </a:tr>
              <a:tr h="383540">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2B9A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Script</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2B9A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Dialogue Sommer versus Mondschein, with an intro and a punchline</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2B9A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r h="383540">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2B9A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2B9A9"/>
                      </a:solidFill>
                      <a:prstDash val="solid"/>
                      <a:round/>
                      <a:headEnd type="none" w="med" len="med"/>
                      <a:tailEnd type="none" w="med" len="med"/>
                    </a:lnB>
                    <a:solidFill>
                      <a:srgbClr val="F3E7D3"/>
                    </a:solidFill>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Voices</a:t>
                      </a:r>
                      <a:endParaRPr lang="en-US" sz="1400" dirty="0">
                        <a:latin typeface="Arial" charset="0"/>
                        <a:ea typeface="Arial" charset="0"/>
                        <a:cs typeface="Arial" charset="0"/>
                      </a:endParaRPr>
                    </a:p>
                  </a:txBody>
                  <a:tcPr marL="62230" marR="62230" marT="62230" marB="62230" anchor="t">
                    <a:lnL w="12700" cap="flat" cmpd="sng" algn="ctr">
                      <a:solidFill>
                        <a:srgbClr val="C2B9A9"/>
                      </a:solidFill>
                      <a:prstDash val="solid"/>
                      <a:round/>
                      <a:headEnd type="none" w="med" len="med"/>
                      <a:tailEnd type="none" w="med" len="med"/>
                    </a:lnL>
                    <a:lnR w="12700" cap="flat" cmpd="sng" algn="ctr">
                      <a:solidFill>
                        <a:srgbClr val="C2B9A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2B9A9"/>
                      </a:solidFill>
                      <a:prstDash val="solid"/>
                      <a:round/>
                      <a:headEnd type="none" w="med" len="med"/>
                      <a:tailEnd type="none" w="med" len="med"/>
                    </a:lnB>
                    <a:solidFill>
                      <a:srgbClr val="F3E7D3"/>
                    </a:solidFill>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Text becomes speech, music is added</a:t>
                      </a:r>
                      <a:endParaRPr lang="en-US" sz="1400" dirty="0">
                        <a:latin typeface="Arial" charset="0"/>
                        <a:ea typeface="Arial" charset="0"/>
                        <a:cs typeface="Arial" charset="0"/>
                      </a:endParaRPr>
                    </a:p>
                  </a:txBody>
                  <a:tcPr marL="62230" marR="62230" marT="62230" marB="62230" anchor="t">
                    <a:lnL w="12700" cap="flat" cmpd="sng" algn="ctr">
                      <a:solidFill>
                        <a:srgbClr val="C2B9A9"/>
                      </a:solidFill>
                      <a:prstDash val="solid"/>
                      <a:round/>
                      <a:headEnd type="none" w="med" len="med"/>
                      <a:tailEnd type="none" w="med" len="med"/>
                    </a:lnL>
                    <a:lnR w="12700" cap="flat" cmpd="sng" algn="ctr">
                      <a:solidFill>
                        <a:srgbClr val="C2B9A9"/>
                      </a:solidFill>
                      <a:prstDash val="solid"/>
                      <a:round/>
                      <a:headEnd type="none" w="med" len="med"/>
                      <a:tailEnd type="none" w="med" len="med"/>
                    </a:lnR>
                    <a:lnT w="12700" cap="flat" cmpd="sng" algn="ctr">
                      <a:solidFill>
                        <a:srgbClr val="C8C3B9"/>
                      </a:solidFill>
                      <a:prstDash val="solid"/>
                      <a:round/>
                      <a:headEnd type="none" w="med" len="med"/>
                      <a:tailEnd type="none" w="med" len="med"/>
                    </a:lnT>
                    <a:lnB w="12700" cap="flat" cmpd="sng" algn="ctr">
                      <a:solidFill>
                        <a:srgbClr val="C2B9A9"/>
                      </a:solidFill>
                      <a:prstDash val="solid"/>
                      <a:round/>
                      <a:headEnd type="none" w="med" len="med"/>
                      <a:tailEnd type="none" w="med" len="med"/>
                    </a:lnB>
                    <a:solidFill>
                      <a:srgbClr val="F3E7D3"/>
                    </a:solidFill>
                  </a:tcPr>
                </a:tc>
              </a:tr>
              <a:tr h="383540">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7</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2B9A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Publish</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2B9A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c>
                  <a:txBody>
                    <a:bodyPr/>
                    <a:lstStyle/>
                    <a:p>
                      <a:pPr indent="0" marL="0">
                        <a:lnSpc>
                          <a:spcPts val="1960"/>
                        </a:lnSpc>
                        <a:buNone/>
                      </a:pPr>
                      <a:r>
                        <a:rPr lang="en-US" sz="1400" dirty="0">
                          <a:solidFill>
                            <a:srgbClr val="16213A"/>
                          </a:solidFill>
                          <a:latin typeface="Arial" pitchFamily="34" charset="0"/>
                          <a:ea typeface="Arial" pitchFamily="34" charset="-122"/>
                          <a:cs typeface="Arial" pitchFamily="34" charset="-120"/>
                        </a:rPr>
                        <a:t>Website, RSS feed, Spotify, Apple Podcasts, YouTube</a:t>
                      </a:r>
                      <a:endParaRPr lang="en-US" sz="1400" dirty="0">
                        <a:latin typeface="Arial" charset="0"/>
                        <a:ea typeface="Arial" charset="0"/>
                        <a:cs typeface="Arial" charset="0"/>
                      </a:endParaRPr>
                    </a:p>
                  </a:txBody>
                  <a:tcPr marL="62230" marR="62230" marT="62230" marB="62230" anchor="t">
                    <a:lnL w="12700" cap="flat" cmpd="sng" algn="ctr">
                      <a:solidFill>
                        <a:srgbClr val="C8C3B9"/>
                      </a:solidFill>
                      <a:prstDash val="solid"/>
                      <a:round/>
                      <a:headEnd type="none" w="med" len="med"/>
                      <a:tailEnd type="none" w="med" len="med"/>
                    </a:lnL>
                    <a:lnR w="12700" cap="flat" cmpd="sng" algn="ctr">
                      <a:solidFill>
                        <a:srgbClr val="C8C3B9"/>
                      </a:solidFill>
                      <a:prstDash val="solid"/>
                      <a:round/>
                      <a:headEnd type="none" w="med" len="med"/>
                      <a:tailEnd type="none" w="med" len="med"/>
                    </a:lnR>
                    <a:lnT w="12700" cap="flat" cmpd="sng" algn="ctr">
                      <a:solidFill>
                        <a:srgbClr val="C2B9A9"/>
                      </a:solidFill>
                      <a:prstDash val="solid"/>
                      <a:round/>
                      <a:headEnd type="none" w="med" len="med"/>
                      <a:tailEnd type="none" w="med" len="med"/>
                    </a:lnT>
                    <a:lnB w="12700" cap="flat" cmpd="sng" algn="ctr">
                      <a:solidFill>
                        <a:srgbClr val="C8C3B9"/>
                      </a:solidFill>
                      <a:prstDash val="solid"/>
                      <a:round/>
                      <a:headEnd type="none" w="med" len="med"/>
                      <a:tailEnd type="none" w="med" len="med"/>
                    </a:lnB>
                  </a:tcPr>
                </a:tc>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9A4E12"/>
                </a:solidFill>
                <a:latin typeface="Arial" pitchFamily="34" charset="0"/>
                <a:ea typeface="Arial" pitchFamily="34" charset="-122"/>
                <a:cs typeface="Arial" pitchFamily="34" charset="-120"/>
              </a:rPr>
              <a:t>STEPS 1 TO 5</a:t>
            </a:r>
            <a:endParaRPr lang="en-US" sz="1300" dirty="0"/>
          </a:p>
        </p:txBody>
      </p:sp>
      <p:sp>
        <p:nvSpPr>
          <p:cNvPr id="3" name="Text 1"/>
          <p:cNvSpPr/>
          <p:nvPr>
            <p:ph type="title"/>
          </p:nvPr>
        </p:nvSpPr>
        <p:spPr>
          <a:xfrm>
            <a:off x="812800" y="11455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3A"/>
                </a:solidFill>
                <a:latin typeface="Arial" pitchFamily="34" charset="0"/>
                <a:ea typeface="Arial" pitchFamily="34" charset="-122"/>
                <a:cs typeface="Arial" pitchFamily="34" charset="-120"/>
              </a:rPr>
              <a:t>Claude writes the script</a:t>
            </a:r>
            <a:endParaRPr lang="en-US" sz="3600" dirty="0"/>
          </a:p>
        </p:txBody>
      </p:sp>
      <p:sp>
        <p:nvSpPr>
          <p:cNvPr id="4" name="Shape 2"/>
          <p:cNvSpPr/>
          <p:nvPr/>
        </p:nvSpPr>
        <p:spPr>
          <a:xfrm>
            <a:off x="812800" y="2004061"/>
            <a:ext cx="3352800" cy="2080260"/>
          </a:xfrm>
          <a:prstGeom prst="roundRect">
            <a:avLst>
              <a:gd name="adj" fmla="val 4884"/>
            </a:avLst>
          </a:prstGeom>
          <a:solidFill>
            <a:srgbClr val="FFFFFF"/>
          </a:solidFill>
          <a:ln/>
          <a:effectLst>
            <a:outerShdw sx="100000" sy="100000" kx="0" ky="0" algn="bl" rotWithShape="0" blurRad="152400" dist="50800" dir="5400000">
              <a:srgbClr val="16213A">
                <a:alpha val="8000"/>
              </a:srgbClr>
            </a:outerShdw>
          </a:effectLst>
        </p:spPr>
      </p:sp>
      <p:sp>
        <p:nvSpPr>
          <p:cNvPr id="5" name="Text 3"/>
          <p:cNvSpPr/>
          <p:nvPr/>
        </p:nvSpPr>
        <p:spPr>
          <a:xfrm>
            <a:off x="1066800" y="2258061"/>
            <a:ext cx="293014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13A"/>
                </a:solidFill>
                <a:latin typeface="Arial" pitchFamily="34" charset="0"/>
                <a:ea typeface="Arial" pitchFamily="34" charset="-122"/>
                <a:cs typeface="Arial" pitchFamily="34" charset="-120"/>
              </a:rPr>
              <a:t>Characters</a:t>
            </a:r>
            <a:endParaRPr lang="en-US" sz="2200" dirty="0"/>
          </a:p>
        </p:txBody>
      </p:sp>
      <p:sp>
        <p:nvSpPr>
          <p:cNvPr id="6" name="Text 4"/>
          <p:cNvSpPr/>
          <p:nvPr/>
        </p:nvSpPr>
        <p:spPr>
          <a:xfrm>
            <a:off x="1066800" y="2694939"/>
            <a:ext cx="293014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Biography, way of speaking, weaknesses and catchphrases live in one file.</a:t>
            </a:r>
            <a:endParaRPr lang="en-US" sz="1500" dirty="0"/>
          </a:p>
        </p:txBody>
      </p:sp>
      <p:sp>
        <p:nvSpPr>
          <p:cNvPr id="7" name="Shape 5"/>
          <p:cNvSpPr/>
          <p:nvPr/>
        </p:nvSpPr>
        <p:spPr>
          <a:xfrm>
            <a:off x="4419600" y="2004061"/>
            <a:ext cx="3352800" cy="2080260"/>
          </a:xfrm>
          <a:prstGeom prst="roundRect">
            <a:avLst>
              <a:gd name="adj" fmla="val 4884"/>
            </a:avLst>
          </a:prstGeom>
          <a:solidFill>
            <a:srgbClr val="FFFFFF"/>
          </a:solidFill>
          <a:ln/>
          <a:effectLst>
            <a:outerShdw sx="100000" sy="100000" kx="0" ky="0" algn="bl" rotWithShape="0" blurRad="152400" dist="50800" dir="5400000">
              <a:srgbClr val="16213A">
                <a:alpha val="8000"/>
              </a:srgbClr>
            </a:outerShdw>
          </a:effectLst>
        </p:spPr>
      </p:sp>
      <p:sp>
        <p:nvSpPr>
          <p:cNvPr id="8" name="Text 6"/>
          <p:cNvSpPr/>
          <p:nvPr/>
        </p:nvSpPr>
        <p:spPr>
          <a:xfrm>
            <a:off x="4673600" y="2258061"/>
            <a:ext cx="2930144"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13A"/>
                </a:solidFill>
                <a:latin typeface="Arial" pitchFamily="34" charset="0"/>
                <a:ea typeface="Arial" pitchFamily="34" charset="-122"/>
                <a:cs typeface="Arial" pitchFamily="34" charset="-120"/>
              </a:rPr>
              <a:t>Intro with a punchline</a:t>
            </a:r>
            <a:endParaRPr lang="en-US" sz="2200" dirty="0"/>
          </a:p>
        </p:txBody>
      </p:sp>
      <p:sp>
        <p:nvSpPr>
          <p:cNvPr id="9" name="Text 7"/>
          <p:cNvSpPr/>
          <p:nvPr/>
        </p:nvSpPr>
        <p:spPr>
          <a:xfrm>
            <a:off x="4673600" y="3030221"/>
            <a:ext cx="293014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Like the doorbell camera that declares the mail carrier a family member.</a:t>
            </a:r>
            <a:endParaRPr lang="en-US" sz="1500" dirty="0"/>
          </a:p>
        </p:txBody>
      </p:sp>
      <p:sp>
        <p:nvSpPr>
          <p:cNvPr id="10" name="Shape 8"/>
          <p:cNvSpPr/>
          <p:nvPr/>
        </p:nvSpPr>
        <p:spPr>
          <a:xfrm>
            <a:off x="8026400" y="2004061"/>
            <a:ext cx="3352800" cy="2080260"/>
          </a:xfrm>
          <a:prstGeom prst="roundRect">
            <a:avLst>
              <a:gd name="adj" fmla="val 4884"/>
            </a:avLst>
          </a:prstGeom>
          <a:solidFill>
            <a:srgbClr val="FFFFFF"/>
          </a:solidFill>
          <a:ln/>
          <a:effectLst>
            <a:outerShdw sx="100000" sy="100000" kx="0" ky="0" algn="bl" rotWithShape="0" blurRad="152400" dist="50800" dir="5400000">
              <a:srgbClr val="16213A">
                <a:alpha val="8000"/>
              </a:srgbClr>
            </a:outerShdw>
          </a:effectLst>
        </p:spPr>
      </p:sp>
      <p:sp>
        <p:nvSpPr>
          <p:cNvPr id="11" name="Text 9"/>
          <p:cNvSpPr/>
          <p:nvPr/>
        </p:nvSpPr>
        <p:spPr>
          <a:xfrm>
            <a:off x="8280400" y="2258061"/>
            <a:ext cx="293014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13A"/>
                </a:solidFill>
                <a:latin typeface="Arial" pitchFamily="34" charset="0"/>
                <a:ea typeface="Arial" pitchFamily="34" charset="-122"/>
                <a:cs typeface="Arial" pitchFamily="34" charset="-120"/>
              </a:rPr>
              <a:t>No repeats</a:t>
            </a:r>
            <a:endParaRPr lang="en-US" sz="2200" dirty="0"/>
          </a:p>
        </p:txBody>
      </p:sp>
      <p:sp>
        <p:nvSpPr>
          <p:cNvPr id="12" name="Text 10"/>
          <p:cNvSpPr/>
          <p:nvPr/>
        </p:nvSpPr>
        <p:spPr>
          <a:xfrm>
            <a:off x="8280400" y="2694939"/>
            <a:ext cx="293014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Claude reads the earlier episodes, so jokes and topics don’t come back.</a:t>
            </a:r>
            <a:endParaRPr lang="en-US" sz="1500" dirty="0"/>
          </a:p>
        </p:txBody>
      </p:sp>
      <p:sp>
        <p:nvSpPr>
          <p:cNvPr id="13" name="Text 11"/>
          <p:cNvSpPr/>
          <p:nvPr/>
        </p:nvSpPr>
        <p:spPr>
          <a:xfrm>
            <a:off x="812800" y="44399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13A"/>
                </a:solidFill>
                <a:latin typeface="Arial" pitchFamily="34" charset="0"/>
                <a:ea typeface="Arial" pitchFamily="34" charset="-122"/>
                <a:cs typeface="Arial" pitchFamily="34" charset="-120"/>
              </a:rPr>
              <a:t>Every episode ends with </a:t>
            </a:r>
            <a:r>
              <a:rPr lang="en-US" sz="1600" b="1" dirty="0">
                <a:solidFill>
                  <a:srgbClr val="16213A"/>
                </a:solidFill>
                <a:latin typeface="Arial" pitchFamily="34" charset="0"/>
                <a:ea typeface="Arial" pitchFamily="34" charset="-122"/>
                <a:cs typeface="Arial" pitchFamily="34" charset="-120"/>
              </a:rPr>
              <a:t>Sommer’s sunny side</a:t>
            </a:r>
            <a:r>
              <a:rPr lang="en-US" sz="1600" dirty="0">
                <a:solidFill>
                  <a:srgbClr val="16213A"/>
                </a:solidFill>
                <a:latin typeface="Arial" pitchFamily="34" charset="0"/>
                <a:ea typeface="Arial" pitchFamily="34" charset="-122"/>
                <a:cs typeface="Arial" pitchFamily="34" charset="-120"/>
              </a:rPr>
              <a:t> and </a:t>
            </a:r>
            <a:r>
              <a:rPr lang="en-US" sz="1600" b="1" dirty="0">
                <a:solidFill>
                  <a:srgbClr val="16213A"/>
                </a:solidFill>
                <a:latin typeface="Arial" pitchFamily="34" charset="0"/>
                <a:ea typeface="Arial" pitchFamily="34" charset="-122"/>
                <a:cs typeface="Arial" pitchFamily="34" charset="-120"/>
              </a:rPr>
              <a:t>Mondschein’s night thought</a:t>
            </a:r>
            <a:r>
              <a:rPr lang="en-US" sz="1600" dirty="0">
                <a:solidFill>
                  <a:srgbClr val="16213A"/>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9A4E12"/>
                </a:solidFill>
                <a:latin typeface="Arial" pitchFamily="34" charset="0"/>
                <a:ea typeface="Arial" pitchFamily="34" charset="-122"/>
                <a:cs typeface="Arial" pitchFamily="34" charset="-120"/>
              </a:rPr>
              <a:t>STEP 6</a:t>
            </a:r>
            <a:endParaRPr lang="en-US" sz="1300" dirty="0"/>
          </a:p>
        </p:txBody>
      </p:sp>
      <p:sp>
        <p:nvSpPr>
          <p:cNvPr id="3" name="Text 1"/>
          <p:cNvSpPr/>
          <p:nvPr>
            <p:ph type="title"/>
          </p:nvPr>
        </p:nvSpPr>
        <p:spPr>
          <a:xfrm>
            <a:off x="812800" y="11455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3A"/>
                </a:solidFill>
                <a:latin typeface="Arial" pitchFamily="34" charset="0"/>
                <a:ea typeface="Arial" pitchFamily="34" charset="-122"/>
                <a:cs typeface="Arial" pitchFamily="34" charset="-120"/>
              </a:rPr>
              <a:t>Seven voice engines tested</a:t>
            </a:r>
            <a:endParaRPr lang="en-US" sz="3600" dirty="0"/>
          </a:p>
        </p:txBody>
      </p:sp>
      <p:sp>
        <p:nvSpPr>
          <p:cNvPr id="4" name="Text 2"/>
          <p:cNvSpPr/>
          <p:nvPr/>
        </p:nvSpPr>
        <p:spPr>
          <a:xfrm>
            <a:off x="812800" y="2004061"/>
            <a:ext cx="491845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4A5568"/>
                </a:solidFill>
                <a:latin typeface="Arial" pitchFamily="34" charset="0"/>
                <a:ea typeface="Arial" pitchFamily="34" charset="-122"/>
                <a:cs typeface="Arial" pitchFamily="34" charset="-120"/>
              </a:rPr>
              <a:t>Tried and dropped</a:t>
            </a:r>
            <a:endParaRPr lang="en-US" sz="2200" dirty="0"/>
          </a:p>
        </p:txBody>
      </p:sp>
      <p:sp>
        <p:nvSpPr>
          <p:cNvPr id="5" name="Text 3"/>
          <p:cNvSpPr/>
          <p:nvPr/>
        </p:nvSpPr>
        <p:spPr>
          <a:xfrm>
            <a:off x="812800" y="2491739"/>
            <a:ext cx="1287463" cy="419100"/>
          </a:xfrm>
          <a:prstGeom prst="roundRect">
            <a:avLst>
              <a:gd name="adj" fmla="val 50000"/>
            </a:avLst>
          </a:prstGeom>
          <a:solidFill>
            <a:srgbClr val="EFE3CF"/>
          </a:solidFill>
          <a:ln/>
        </p:spPr>
        <p:txBody>
          <a:bodyPr wrap="none" lIns="0" tIns="0" rIns="0" bIns="0" rtlCol="0" anchor="ctr">
            <a:normAutofit/>
          </a:bodyPr>
          <a:lstStyle/>
          <a:p>
            <a:pPr algn="ctr" indent="0" marL="0">
              <a:lnSpc>
                <a:spcPts val="2100"/>
              </a:lnSpc>
              <a:buNone/>
            </a:pPr>
            <a:r>
              <a:rPr lang="en-US" sz="1500" dirty="0">
                <a:solidFill>
                  <a:srgbClr val="16213A"/>
                </a:solidFill>
                <a:latin typeface="Arial" pitchFamily="34" charset="0"/>
                <a:ea typeface="Arial" pitchFamily="34" charset="-122"/>
                <a:cs typeface="Arial" pitchFamily="34" charset="-120"/>
              </a:rPr>
              <a:t>Chatterbox</a:t>
            </a:r>
            <a:endParaRPr lang="en-US" sz="1500" dirty="0"/>
          </a:p>
        </p:txBody>
      </p:sp>
      <p:sp>
        <p:nvSpPr>
          <p:cNvPr id="6" name="Text 4"/>
          <p:cNvSpPr/>
          <p:nvPr/>
        </p:nvSpPr>
        <p:spPr>
          <a:xfrm>
            <a:off x="2201863" y="2491739"/>
            <a:ext cx="1368822" cy="419100"/>
          </a:xfrm>
          <a:prstGeom prst="roundRect">
            <a:avLst>
              <a:gd name="adj" fmla="val 50000"/>
            </a:avLst>
          </a:prstGeom>
          <a:solidFill>
            <a:srgbClr val="EFE3CF"/>
          </a:solidFill>
          <a:ln/>
        </p:spPr>
        <p:txBody>
          <a:bodyPr wrap="none" lIns="0" tIns="0" rIns="0" bIns="0" rtlCol="0" anchor="ctr">
            <a:normAutofit/>
          </a:bodyPr>
          <a:lstStyle/>
          <a:p>
            <a:pPr algn="ctr" indent="0" marL="0">
              <a:lnSpc>
                <a:spcPts val="2100"/>
              </a:lnSpc>
              <a:buNone/>
            </a:pPr>
            <a:r>
              <a:rPr lang="en-US" sz="1500" dirty="0">
                <a:solidFill>
                  <a:srgbClr val="16213A"/>
                </a:solidFill>
                <a:latin typeface="Arial" pitchFamily="34" charset="0"/>
                <a:ea typeface="Arial" pitchFamily="34" charset="-122"/>
                <a:cs typeface="Arial" pitchFamily="34" charset="-120"/>
              </a:rPr>
              <a:t>Kartoffelbox</a:t>
            </a:r>
            <a:endParaRPr lang="en-US" sz="1500" dirty="0"/>
          </a:p>
        </p:txBody>
      </p:sp>
      <p:sp>
        <p:nvSpPr>
          <p:cNvPr id="7" name="Text 5"/>
          <p:cNvSpPr/>
          <p:nvPr/>
        </p:nvSpPr>
        <p:spPr>
          <a:xfrm>
            <a:off x="3672284" y="2491739"/>
            <a:ext cx="1382474" cy="419100"/>
          </a:xfrm>
          <a:prstGeom prst="roundRect">
            <a:avLst>
              <a:gd name="adj" fmla="val 50000"/>
            </a:avLst>
          </a:prstGeom>
          <a:solidFill>
            <a:srgbClr val="EFE3CF"/>
          </a:solidFill>
          <a:ln/>
        </p:spPr>
        <p:txBody>
          <a:bodyPr wrap="none" lIns="0" tIns="0" rIns="0" bIns="0" rtlCol="0" anchor="ctr">
            <a:normAutofit/>
          </a:bodyPr>
          <a:lstStyle/>
          <a:p>
            <a:pPr algn="ctr" indent="0" marL="0">
              <a:lnSpc>
                <a:spcPts val="2100"/>
              </a:lnSpc>
              <a:buNone/>
            </a:pPr>
            <a:r>
              <a:rPr lang="en-US" sz="1500" dirty="0">
                <a:solidFill>
                  <a:srgbClr val="16213A"/>
                </a:solidFill>
                <a:latin typeface="Arial" pitchFamily="34" charset="0"/>
                <a:ea typeface="Arial" pitchFamily="34" charset="-122"/>
                <a:cs typeface="Arial" pitchFamily="34" charset="-120"/>
              </a:rPr>
              <a:t>Qwen3-TTS</a:t>
            </a:r>
            <a:endParaRPr lang="en-US" sz="1500" dirty="0"/>
          </a:p>
        </p:txBody>
      </p:sp>
      <p:sp>
        <p:nvSpPr>
          <p:cNvPr id="8" name="Text 6"/>
          <p:cNvSpPr/>
          <p:nvPr/>
        </p:nvSpPr>
        <p:spPr>
          <a:xfrm>
            <a:off x="812800" y="3012439"/>
            <a:ext cx="1339850" cy="419100"/>
          </a:xfrm>
          <a:prstGeom prst="roundRect">
            <a:avLst>
              <a:gd name="adj" fmla="val 50000"/>
            </a:avLst>
          </a:prstGeom>
          <a:solidFill>
            <a:srgbClr val="EFE3CF"/>
          </a:solidFill>
          <a:ln/>
        </p:spPr>
        <p:txBody>
          <a:bodyPr wrap="none" lIns="0" tIns="0" rIns="0" bIns="0" rtlCol="0" anchor="ctr">
            <a:normAutofit/>
          </a:bodyPr>
          <a:lstStyle/>
          <a:p>
            <a:pPr algn="ctr" indent="0" marL="0">
              <a:lnSpc>
                <a:spcPts val="2100"/>
              </a:lnSpc>
              <a:buNone/>
            </a:pPr>
            <a:r>
              <a:rPr lang="en-US" sz="1500" dirty="0">
                <a:solidFill>
                  <a:srgbClr val="16213A"/>
                </a:solidFill>
                <a:latin typeface="Arial" pitchFamily="34" charset="0"/>
                <a:ea typeface="Arial" pitchFamily="34" charset="-122"/>
                <a:cs typeface="Arial" pitchFamily="34" charset="-120"/>
              </a:rPr>
              <a:t>MOSS-TTS</a:t>
            </a:r>
            <a:endParaRPr lang="en-US" sz="1500" dirty="0"/>
          </a:p>
        </p:txBody>
      </p:sp>
      <p:sp>
        <p:nvSpPr>
          <p:cNvPr id="9" name="Text 7"/>
          <p:cNvSpPr/>
          <p:nvPr/>
        </p:nvSpPr>
        <p:spPr>
          <a:xfrm>
            <a:off x="2254250" y="3012439"/>
            <a:ext cx="1202690" cy="419100"/>
          </a:xfrm>
          <a:prstGeom prst="roundRect">
            <a:avLst>
              <a:gd name="adj" fmla="val 50000"/>
            </a:avLst>
          </a:prstGeom>
          <a:solidFill>
            <a:srgbClr val="EFE3CF"/>
          </a:solidFill>
          <a:ln/>
        </p:spPr>
        <p:txBody>
          <a:bodyPr wrap="none" lIns="0" tIns="0" rIns="0" bIns="0" rtlCol="0" anchor="ctr">
            <a:normAutofit/>
          </a:bodyPr>
          <a:lstStyle/>
          <a:p>
            <a:pPr algn="ctr" indent="0" marL="0">
              <a:lnSpc>
                <a:spcPts val="2100"/>
              </a:lnSpc>
              <a:buNone/>
            </a:pPr>
            <a:r>
              <a:rPr lang="en-US" sz="1500" dirty="0">
                <a:solidFill>
                  <a:srgbClr val="16213A"/>
                </a:solidFill>
                <a:latin typeface="Arial" pitchFamily="34" charset="0"/>
                <a:ea typeface="Arial" pitchFamily="34" charset="-122"/>
                <a:cs typeface="Arial" pitchFamily="34" charset="-120"/>
              </a:rPr>
              <a:t>VoxCPM2</a:t>
            </a:r>
            <a:endParaRPr lang="en-US" sz="1500" dirty="0"/>
          </a:p>
        </p:txBody>
      </p:sp>
      <p:sp>
        <p:nvSpPr>
          <p:cNvPr id="10" name="Text 8"/>
          <p:cNvSpPr/>
          <p:nvPr/>
        </p:nvSpPr>
        <p:spPr>
          <a:xfrm>
            <a:off x="3558540" y="3012439"/>
            <a:ext cx="959009" cy="419100"/>
          </a:xfrm>
          <a:prstGeom prst="roundRect">
            <a:avLst>
              <a:gd name="adj" fmla="val 50000"/>
            </a:avLst>
          </a:prstGeom>
          <a:solidFill>
            <a:srgbClr val="EFE3CF"/>
          </a:solidFill>
          <a:ln/>
        </p:spPr>
        <p:txBody>
          <a:bodyPr wrap="none" lIns="0" tIns="0" rIns="0" bIns="0" rtlCol="0" anchor="ctr">
            <a:normAutofit/>
          </a:bodyPr>
          <a:lstStyle/>
          <a:p>
            <a:pPr algn="ctr" indent="0" marL="0">
              <a:lnSpc>
                <a:spcPts val="2100"/>
              </a:lnSpc>
              <a:buNone/>
            </a:pPr>
            <a:r>
              <a:rPr lang="en-US" sz="1500" dirty="0">
                <a:solidFill>
                  <a:srgbClr val="16213A"/>
                </a:solidFill>
                <a:latin typeface="Arial" pitchFamily="34" charset="0"/>
                <a:ea typeface="Arial" pitchFamily="34" charset="-122"/>
                <a:cs typeface="Arial" pitchFamily="34" charset="-120"/>
              </a:rPr>
              <a:t>Gemini</a:t>
            </a:r>
            <a:endParaRPr lang="en-US" sz="1500" dirty="0"/>
          </a:p>
        </p:txBody>
      </p:sp>
      <p:sp>
        <p:nvSpPr>
          <p:cNvPr id="11" name="Text 9"/>
          <p:cNvSpPr/>
          <p:nvPr/>
        </p:nvSpPr>
        <p:spPr>
          <a:xfrm>
            <a:off x="812800" y="3583939"/>
            <a:ext cx="491845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The local models are free, but ElevenLabs sounded the most like a real conversation.</a:t>
            </a:r>
            <a:endParaRPr lang="en-US" sz="1500" dirty="0"/>
          </a:p>
        </p:txBody>
      </p:sp>
      <p:sp>
        <p:nvSpPr>
          <p:cNvPr id="12" name="Shape 10"/>
          <p:cNvSpPr/>
          <p:nvPr/>
        </p:nvSpPr>
        <p:spPr>
          <a:xfrm>
            <a:off x="5892800" y="2004061"/>
            <a:ext cx="5486400" cy="2552700"/>
          </a:xfrm>
          <a:prstGeom prst="roundRect">
            <a:avLst>
              <a:gd name="adj" fmla="val 3980"/>
            </a:avLst>
          </a:prstGeom>
          <a:solidFill>
            <a:srgbClr val="16213A"/>
          </a:solidFill>
          <a:ln/>
        </p:spPr>
      </p:sp>
      <p:sp>
        <p:nvSpPr>
          <p:cNvPr id="13" name="Text 11"/>
          <p:cNvSpPr/>
          <p:nvPr/>
        </p:nvSpPr>
        <p:spPr>
          <a:xfrm>
            <a:off x="6248400" y="2359661"/>
            <a:ext cx="4918456"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2A341"/>
                </a:solidFill>
                <a:latin typeface="Arial" pitchFamily="34" charset="0"/>
                <a:ea typeface="Arial" pitchFamily="34" charset="-122"/>
                <a:cs typeface="Arial" pitchFamily="34" charset="-120"/>
              </a:rPr>
              <a:t>WINNER</a:t>
            </a:r>
            <a:endParaRPr lang="en-US" sz="1300" dirty="0"/>
          </a:p>
        </p:txBody>
      </p:sp>
      <p:sp>
        <p:nvSpPr>
          <p:cNvPr id="14" name="Text 12"/>
          <p:cNvSpPr/>
          <p:nvPr/>
        </p:nvSpPr>
        <p:spPr>
          <a:xfrm>
            <a:off x="6248400" y="2717800"/>
            <a:ext cx="4918456"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BF4E8"/>
                </a:solidFill>
                <a:latin typeface="Arial" pitchFamily="34" charset="0"/>
                <a:ea typeface="Arial" pitchFamily="34" charset="-122"/>
                <a:cs typeface="Arial" pitchFamily="34" charset="-120"/>
              </a:rPr>
              <a:t>ElevenLabs v4</a:t>
            </a:r>
            <a:endParaRPr lang="en-US" sz="3600" dirty="0"/>
          </a:p>
        </p:txBody>
      </p:sp>
      <p:sp>
        <p:nvSpPr>
          <p:cNvPr id="15" name="Text 13"/>
          <p:cNvSpPr/>
          <p:nvPr/>
        </p:nvSpPr>
        <p:spPr>
          <a:xfrm>
            <a:off x="6248400" y="3347721"/>
            <a:ext cx="4918456"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Arial" pitchFamily="34" charset="0"/>
                <a:ea typeface="Arial" pitchFamily="34" charset="-122"/>
                <a:cs typeface="Arial" pitchFamily="34" charset="-120"/>
              </a:rPr>
              <a:t>About 3,800 credits per episode. Afterwards Whisper transcribes the episode and compares it word by word with the script.</a:t>
            </a:r>
            <a:endParaRPr lang="en-US" sz="16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A34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16213A"/>
                </a:solidFill>
                <a:latin typeface="Arial" pitchFamily="34" charset="0"/>
                <a:ea typeface="Arial" pitchFamily="34" charset="-122"/>
                <a:cs typeface="Arial" pitchFamily="34" charset="-120"/>
              </a:rPr>
              <a:t>AUTOMATION</a:t>
            </a:r>
            <a:endParaRPr lang="en-US" sz="1300" dirty="0"/>
          </a:p>
        </p:txBody>
      </p:sp>
      <p:sp>
        <p:nvSpPr>
          <p:cNvPr id="3" name="Text 1"/>
          <p:cNvSpPr/>
          <p:nvPr>
            <p:ph type="title"/>
          </p:nvPr>
        </p:nvSpPr>
        <p:spPr>
          <a:xfrm>
            <a:off x="812800" y="1196339"/>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6213A"/>
                </a:solidFill>
                <a:latin typeface="Arial" pitchFamily="34" charset="0"/>
                <a:ea typeface="Arial" pitchFamily="34" charset="-122"/>
                <a:cs typeface="Arial" pitchFamily="34" charset="-120"/>
              </a:rPr>
              <a:t>Sunday, 5 a.m.: the episode makes itself</a:t>
            </a:r>
            <a:endParaRPr lang="en-US" sz="6000" dirty="0"/>
          </a:p>
        </p:txBody>
      </p:sp>
      <p:sp>
        <p:nvSpPr>
          <p:cNvPr id="4" name="Shape 2"/>
          <p:cNvSpPr/>
          <p:nvPr/>
        </p:nvSpPr>
        <p:spPr>
          <a:xfrm>
            <a:off x="812800" y="4389121"/>
            <a:ext cx="3014107" cy="1452880"/>
          </a:xfrm>
          <a:prstGeom prst="roundRect">
            <a:avLst>
              <a:gd name="adj" fmla="val 6993"/>
            </a:avLst>
          </a:prstGeom>
          <a:solidFill>
            <a:srgbClr val="16213A"/>
          </a:solidFill>
          <a:ln/>
        </p:spPr>
      </p:sp>
      <p:sp>
        <p:nvSpPr>
          <p:cNvPr id="5" name="Text 3"/>
          <p:cNvSpPr/>
          <p:nvPr/>
        </p:nvSpPr>
        <p:spPr>
          <a:xfrm>
            <a:off x="1066800" y="4643121"/>
            <a:ext cx="258129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341"/>
                </a:solidFill>
                <a:latin typeface="Arial" pitchFamily="34" charset="0"/>
                <a:ea typeface="Arial" pitchFamily="34" charset="-122"/>
                <a:cs typeface="Arial" pitchFamily="34" charset="-120"/>
              </a:rPr>
              <a:t>Claude Code</a:t>
            </a:r>
            <a:endParaRPr lang="en-US" sz="2200" dirty="0"/>
          </a:p>
        </p:txBody>
      </p:sp>
      <p:sp>
        <p:nvSpPr>
          <p:cNvPr id="6" name="Text 4"/>
          <p:cNvSpPr/>
          <p:nvPr/>
        </p:nvSpPr>
        <p:spPr>
          <a:xfrm>
            <a:off x="1066800" y="5054600"/>
            <a:ext cx="25812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BF4E8"/>
                </a:solidFill>
                <a:latin typeface="Arial" pitchFamily="34" charset="0"/>
                <a:ea typeface="Arial" pitchFamily="34" charset="-122"/>
                <a:cs typeface="Arial" pitchFamily="34" charset="-120"/>
              </a:rPr>
              <a:t>Cloud routine runs steps 1 to 6</a:t>
            </a:r>
            <a:endParaRPr lang="en-US" sz="1500" dirty="0"/>
          </a:p>
        </p:txBody>
      </p:sp>
      <p:pic>
        <p:nvPicPr>
          <p:cNvPr id="7" name="Image 0" descr="arrow-right">    </p:cNvPr>
          <p:cNvPicPr>
            <a:picLocks noChangeAspect="1"/>
          </p:cNvPicPr>
          <p:nvPr/>
        </p:nvPicPr>
        <p:blipFill>
          <a:blip r:embed="rId1"/>
          <a:srcRect l="0" r="0" t="0" b="0"/>
          <a:stretch/>
        </p:blipFill>
        <p:spPr>
          <a:xfrm>
            <a:off x="3979307" y="4988561"/>
            <a:ext cx="457200" cy="254000"/>
          </a:xfrm>
          <a:prstGeom prst="rect">
            <a:avLst/>
          </a:prstGeom>
        </p:spPr>
      </p:pic>
      <p:sp>
        <p:nvSpPr>
          <p:cNvPr id="8" name="Shape 5"/>
          <p:cNvSpPr/>
          <p:nvPr/>
        </p:nvSpPr>
        <p:spPr>
          <a:xfrm>
            <a:off x="4588907" y="4389121"/>
            <a:ext cx="3014186" cy="1452880"/>
          </a:xfrm>
          <a:prstGeom prst="roundRect">
            <a:avLst>
              <a:gd name="adj" fmla="val 6993"/>
            </a:avLst>
          </a:prstGeom>
          <a:solidFill>
            <a:srgbClr val="16213A"/>
          </a:solidFill>
          <a:ln/>
        </p:spPr>
      </p:sp>
      <p:sp>
        <p:nvSpPr>
          <p:cNvPr id="9" name="Text 6"/>
          <p:cNvSpPr/>
          <p:nvPr/>
        </p:nvSpPr>
        <p:spPr>
          <a:xfrm>
            <a:off x="4842907" y="4643121"/>
            <a:ext cx="258137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341"/>
                </a:solidFill>
                <a:latin typeface="Arial" pitchFamily="34" charset="0"/>
                <a:ea typeface="Arial" pitchFamily="34" charset="-122"/>
                <a:cs typeface="Arial" pitchFamily="34" charset="-120"/>
              </a:rPr>
              <a:t>GitHub</a:t>
            </a:r>
            <a:endParaRPr lang="en-US" sz="2200" dirty="0"/>
          </a:p>
        </p:txBody>
      </p:sp>
      <p:sp>
        <p:nvSpPr>
          <p:cNvPr id="10" name="Text 7"/>
          <p:cNvSpPr/>
          <p:nvPr/>
        </p:nvSpPr>
        <p:spPr>
          <a:xfrm>
            <a:off x="4842907" y="5054600"/>
            <a:ext cx="258137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BF4E8"/>
                </a:solidFill>
                <a:latin typeface="Arial" pitchFamily="34" charset="0"/>
                <a:ea typeface="Arial" pitchFamily="34" charset="-122"/>
                <a:cs typeface="Arial" pitchFamily="34" charset="-120"/>
              </a:rPr>
              <a:t>Stores the episode as a release</a:t>
            </a:r>
            <a:endParaRPr lang="en-US" sz="1500" dirty="0"/>
          </a:p>
        </p:txBody>
      </p:sp>
      <p:pic>
        <p:nvPicPr>
          <p:cNvPr id="11" name="Image 1" descr="arrow-right">    </p:cNvPr>
          <p:cNvPicPr>
            <a:picLocks noChangeAspect="1"/>
          </p:cNvPicPr>
          <p:nvPr/>
        </p:nvPicPr>
        <p:blipFill>
          <a:blip r:embed="rId2"/>
          <a:srcRect l="0" r="0" t="0" b="0"/>
          <a:stretch/>
        </p:blipFill>
        <p:spPr>
          <a:xfrm>
            <a:off x="7755493" y="4988561"/>
            <a:ext cx="457200" cy="254000"/>
          </a:xfrm>
          <a:prstGeom prst="rect">
            <a:avLst/>
          </a:prstGeom>
        </p:spPr>
      </p:pic>
      <p:sp>
        <p:nvSpPr>
          <p:cNvPr id="12" name="Shape 8"/>
          <p:cNvSpPr/>
          <p:nvPr/>
        </p:nvSpPr>
        <p:spPr>
          <a:xfrm>
            <a:off x="8365093" y="4522471"/>
            <a:ext cx="3014107" cy="1186180"/>
          </a:xfrm>
          <a:prstGeom prst="roundRect">
            <a:avLst>
              <a:gd name="adj" fmla="val 8565"/>
            </a:avLst>
          </a:prstGeom>
          <a:solidFill>
            <a:srgbClr val="16213A"/>
          </a:solidFill>
          <a:ln/>
        </p:spPr>
      </p:sp>
      <p:sp>
        <p:nvSpPr>
          <p:cNvPr id="13" name="Text 9"/>
          <p:cNvSpPr/>
          <p:nvPr/>
        </p:nvSpPr>
        <p:spPr>
          <a:xfrm>
            <a:off x="8619093" y="4776471"/>
            <a:ext cx="258129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341"/>
                </a:solidFill>
                <a:latin typeface="Arial" pitchFamily="34" charset="0"/>
                <a:ea typeface="Arial" pitchFamily="34" charset="-122"/>
                <a:cs typeface="Arial" pitchFamily="34" charset="-120"/>
              </a:rPr>
              <a:t>Cloudflare</a:t>
            </a:r>
            <a:endParaRPr lang="en-US" sz="2200" dirty="0"/>
          </a:p>
        </p:txBody>
      </p:sp>
      <p:sp>
        <p:nvSpPr>
          <p:cNvPr id="14" name="Text 10"/>
          <p:cNvSpPr/>
          <p:nvPr/>
        </p:nvSpPr>
        <p:spPr>
          <a:xfrm>
            <a:off x="8619093" y="5187950"/>
            <a:ext cx="25812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BF4E8"/>
                </a:solidFill>
                <a:latin typeface="Arial" pitchFamily="34" charset="0"/>
                <a:ea typeface="Arial" pitchFamily="34" charset="-122"/>
                <a:cs typeface="Arial" pitchFamily="34" charset="-120"/>
              </a:rPr>
              <a:t>Website and podcast feed</a:t>
            </a:r>
            <a:endParaRPr lang="en-US" sz="1500" dirty="0"/>
          </a:p>
        </p:txBody>
      </p:sp>
      <p:sp>
        <p:nvSpPr>
          <p:cNvPr id="15"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13A"/>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9A4E12"/>
                </a:solidFill>
                <a:latin typeface="Arial" pitchFamily="34" charset="0"/>
                <a:ea typeface="Arial" pitchFamily="34" charset="-122"/>
                <a:cs typeface="Arial" pitchFamily="34" charset="-120"/>
              </a:rPr>
              <a:t>HOW IT IS SET UP</a:t>
            </a:r>
            <a:endParaRPr lang="en-US" sz="1300" dirty="0"/>
          </a:p>
        </p:txBody>
      </p:sp>
      <p:sp>
        <p:nvSpPr>
          <p:cNvPr id="3" name="Text 1"/>
          <p:cNvSpPr/>
          <p:nvPr>
            <p:ph type="title"/>
          </p:nvPr>
        </p:nvSpPr>
        <p:spPr>
          <a:xfrm>
            <a:off x="812800" y="1145539"/>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3A"/>
                </a:solidFill>
                <a:latin typeface="Arial" pitchFamily="34" charset="0"/>
                <a:ea typeface="Arial" pitchFamily="34" charset="-122"/>
                <a:cs typeface="Arial" pitchFamily="34" charset="-120"/>
              </a:rPr>
              <a:t>One command in Claude Code: </a:t>
            </a:r>
            <a:r>
              <a:rPr lang="en-US" sz="3600" b="1" i="0" dirty="0">
                <a:solidFill>
                  <a:srgbClr val="9A4E12"/>
                </a:solidFill>
                <a:latin typeface="Arial" pitchFamily="34" charset="0"/>
                <a:ea typeface="Arial" pitchFamily="34" charset="-122"/>
                <a:cs typeface="Arial" pitchFamily="34" charset="-120"/>
              </a:rPr>
              <a:t>/schedule</a:t>
            </a:r>
            <a:endParaRPr lang="en-US" sz="3600" dirty="0"/>
          </a:p>
        </p:txBody>
      </p:sp>
      <p:sp>
        <p:nvSpPr>
          <p:cNvPr id="4" name="Shape 2"/>
          <p:cNvSpPr/>
          <p:nvPr/>
        </p:nvSpPr>
        <p:spPr>
          <a:xfrm>
            <a:off x="812800" y="1953261"/>
            <a:ext cx="5130800" cy="2641600"/>
          </a:xfrm>
          <a:prstGeom prst="roundRect">
            <a:avLst>
              <a:gd name="adj" fmla="val 3846"/>
            </a:avLst>
          </a:prstGeom>
          <a:solidFill>
            <a:srgbClr val="FFFFFF"/>
          </a:solidFill>
          <a:ln/>
          <a:effectLst>
            <a:outerShdw sx="100000" sy="100000" kx="0" ky="0" algn="bl" rotWithShape="0" blurRad="152400" dist="50800" dir="5400000">
              <a:srgbClr val="16213A">
                <a:alpha val="8000"/>
              </a:srgbClr>
            </a:outerShdw>
          </a:effectLst>
        </p:spPr>
      </p:sp>
      <p:sp>
        <p:nvSpPr>
          <p:cNvPr id="5" name="Shape 3"/>
          <p:cNvSpPr/>
          <p:nvPr/>
        </p:nvSpPr>
        <p:spPr>
          <a:xfrm>
            <a:off x="812800" y="1953261"/>
            <a:ext cx="5130800" cy="2641600"/>
          </a:xfrm>
          <a:custGeom>
            <a:avLst/>
            <a:gdLst/>
            <a:ahLst/>
            <a:cxnLst/>
            <a:rect l="l" t="t" r="r" b="b"/>
            <a:pathLst>
              <a:path w="5130800" h="2641600">
                <a:moveTo>
                  <a:pt x="0" y="101600"/>
                </a:moveTo>
                <a:lnTo>
                  <a:pt x="0" y="101600"/>
                </a:lnTo>
                <a:arcTo hR="101600" wR="101600" stAng="10800000" swAng="5400000"/>
                <a:lnTo>
                  <a:pt x="5029200" y="0"/>
                </a:lnTo>
                <a:arcTo hR="101600" wR="101600" stAng="16200000" swAng="5400000"/>
                <a:lnTo>
                  <a:pt x="5130800" y="101600"/>
                </a:lnTo>
                <a:arcTo hR="25400" wR="101600" stAng="0" swAng="-5400000"/>
                <a:lnTo>
                  <a:pt x="101600" y="76200"/>
                </a:lnTo>
                <a:arcTo hR="25400" wR="101600" stAng="16200000" swAng="-5400000"/>
                <a:close/>
              </a:path>
            </a:pathLst>
          </a:custGeom>
          <a:solidFill>
            <a:srgbClr val="F2A341"/>
          </a:solidFill>
          <a:ln/>
        </p:spPr>
      </p:sp>
      <p:sp>
        <p:nvSpPr>
          <p:cNvPr id="6" name="Text 4"/>
          <p:cNvSpPr/>
          <p:nvPr/>
        </p:nvSpPr>
        <p:spPr>
          <a:xfrm>
            <a:off x="1117600" y="2334261"/>
            <a:ext cx="465683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13A"/>
                </a:solidFill>
                <a:latin typeface="Arial" pitchFamily="34" charset="0"/>
                <a:ea typeface="Arial" pitchFamily="34" charset="-122"/>
                <a:cs typeface="Arial" pitchFamily="34" charset="-120"/>
              </a:rPr>
              <a:t>Set up once</a:t>
            </a:r>
            <a:endParaRPr lang="en-US" sz="2200" dirty="0"/>
          </a:p>
        </p:txBody>
      </p:sp>
      <p:sp>
        <p:nvSpPr>
          <p:cNvPr id="7" name="Text 5"/>
          <p:cNvSpPr/>
          <p:nvPr/>
        </p:nvSpPr>
        <p:spPr>
          <a:xfrm>
            <a:off x="1214882" y="2796539"/>
            <a:ext cx="4551934" cy="1270000"/>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/schedule creates a cloud routine</a:t>
            </a:r>
            <a:endParaRPr lang="en-US" sz="1400" dirty="0"/>
          </a:p>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Every Sunday at 03:00 UTC, 5 a.m. in Berlin</a:t>
            </a:r>
            <a:endParaRPr lang="en-US" sz="1400" dirty="0"/>
          </a:p>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The prompt is one sentence: “Read routine/sonntag.md and run it.”</a:t>
            </a:r>
            <a:endParaRPr lang="en-US" sz="1400" dirty="0"/>
          </a:p>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To change the routine, I just edit that file</a:t>
            </a:r>
            <a:endParaRPr lang="en-US" sz="1400" dirty="0"/>
          </a:p>
        </p:txBody>
      </p:sp>
      <p:sp>
        <p:nvSpPr>
          <p:cNvPr id="8" name="Shape 6"/>
          <p:cNvSpPr/>
          <p:nvPr/>
        </p:nvSpPr>
        <p:spPr>
          <a:xfrm>
            <a:off x="6248400" y="1953261"/>
            <a:ext cx="5130800" cy="2641600"/>
          </a:xfrm>
          <a:prstGeom prst="roundRect">
            <a:avLst>
              <a:gd name="adj" fmla="val 3846"/>
            </a:avLst>
          </a:prstGeom>
          <a:solidFill>
            <a:srgbClr val="16213A"/>
          </a:solidFill>
          <a:ln/>
        </p:spPr>
      </p:sp>
      <p:sp>
        <p:nvSpPr>
          <p:cNvPr id="9" name="Shape 7"/>
          <p:cNvSpPr/>
          <p:nvPr/>
        </p:nvSpPr>
        <p:spPr>
          <a:xfrm>
            <a:off x="6248400" y="1953261"/>
            <a:ext cx="5130800" cy="2641600"/>
          </a:xfrm>
          <a:custGeom>
            <a:avLst/>
            <a:gdLst/>
            <a:ahLst/>
            <a:cxnLst/>
            <a:rect l="l" t="t" r="r" b="b"/>
            <a:pathLst>
              <a:path w="5130800" h="2641600">
                <a:moveTo>
                  <a:pt x="0" y="101600"/>
                </a:moveTo>
                <a:lnTo>
                  <a:pt x="0" y="101600"/>
                </a:lnTo>
                <a:arcTo hR="101600" wR="101600" stAng="10800000" swAng="5400000"/>
                <a:lnTo>
                  <a:pt x="5029200" y="0"/>
                </a:lnTo>
                <a:arcTo hR="101600" wR="101600" stAng="16200000" swAng="5400000"/>
                <a:lnTo>
                  <a:pt x="5130800" y="101600"/>
                </a:lnTo>
                <a:arcTo hR="25400" wR="101600" stAng="0" swAng="-5400000"/>
                <a:lnTo>
                  <a:pt x="101600" y="76200"/>
                </a:lnTo>
                <a:arcTo hR="25400" wR="101600" stAng="16200000" swAng="-5400000"/>
                <a:close/>
              </a:path>
            </a:pathLst>
          </a:custGeom>
          <a:solidFill>
            <a:srgbClr val="8FB3D9"/>
          </a:solidFill>
          <a:ln/>
        </p:spPr>
      </p:sp>
      <p:sp>
        <p:nvSpPr>
          <p:cNvPr id="10" name="Text 8"/>
          <p:cNvSpPr/>
          <p:nvPr/>
        </p:nvSpPr>
        <p:spPr>
          <a:xfrm>
            <a:off x="6553200" y="2334261"/>
            <a:ext cx="465683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BF4E8"/>
                </a:solidFill>
                <a:latin typeface="Arial" pitchFamily="34" charset="0"/>
                <a:ea typeface="Arial" pitchFamily="34" charset="-122"/>
                <a:cs typeface="Arial" pitchFamily="34" charset="-120"/>
              </a:rPr>
              <a:t>Every Sunday</a:t>
            </a:r>
            <a:endParaRPr lang="en-US" sz="2200" dirty="0"/>
          </a:p>
        </p:txBody>
      </p:sp>
      <p:sp>
        <p:nvSpPr>
          <p:cNvPr id="11" name="Text 9"/>
          <p:cNvSpPr/>
          <p:nvPr/>
        </p:nvSpPr>
        <p:spPr>
          <a:xfrm>
            <a:off x="6650482" y="2796539"/>
            <a:ext cx="4551934" cy="1518920"/>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C9D3E3"/>
                </a:solidFill>
                <a:latin typeface="Arial" pitchFamily="34" charset="0"/>
                <a:ea typeface="Arial" pitchFamily="34" charset="-122"/>
                <a:cs typeface="Arial" pitchFamily="34" charset="-120"/>
              </a:rPr>
              <a:t>A fresh cloud session checks out the private repo</a:t>
            </a:r>
            <a:endParaRPr lang="en-US" sz="1400" dirty="0"/>
          </a:p>
          <a:p>
            <a:pPr algn="l" marL="156718" indent="-156718">
              <a:lnSpc>
                <a:spcPts val="1960"/>
              </a:lnSpc>
              <a:buSzPct val="100000"/>
              <a:buChar char="•"/>
            </a:pPr>
            <a:r>
              <a:rPr lang="en-US" sz="1400" dirty="0">
                <a:solidFill>
                  <a:srgbClr val="C9D3E3"/>
                </a:solidFill>
                <a:latin typeface="Arial" pitchFamily="34" charset="0"/>
                <a:ea typeface="Arial" pitchFamily="34" charset="-122"/>
                <a:cs typeface="Arial" pitchFamily="34" charset="-120"/>
              </a:rPr>
              <a:t>API keys come from the environment, never from the repo</a:t>
            </a:r>
            <a:endParaRPr lang="en-US" sz="1400" dirty="0"/>
          </a:p>
          <a:p>
            <a:pPr algn="l" marL="156718" indent="-156718">
              <a:lnSpc>
                <a:spcPts val="1960"/>
              </a:lnSpc>
              <a:buSzPct val="100000"/>
              <a:buChar char="•"/>
            </a:pPr>
            <a:r>
              <a:rPr lang="en-US" sz="1400" dirty="0">
                <a:solidFill>
                  <a:srgbClr val="C9D3E3"/>
                </a:solidFill>
                <a:latin typeface="Arial" pitchFamily="34" charset="0"/>
                <a:ea typeface="Arial" pitchFamily="34" charset="-122"/>
                <a:cs typeface="Arial" pitchFamily="34" charset="-120"/>
              </a:rPr>
              <a:t>A commit after every step: a broken run resumes</a:t>
            </a:r>
            <a:endParaRPr lang="en-US" sz="1400" dirty="0"/>
          </a:p>
          <a:p>
            <a:pPr algn="l" marL="156718" indent="-156718">
              <a:lnSpc>
                <a:spcPts val="1960"/>
              </a:lnSpc>
              <a:buSzPct val="100000"/>
              <a:buChar char="•"/>
            </a:pPr>
            <a:r>
              <a:rPr lang="en-US" sz="1400" dirty="0">
                <a:solidFill>
                  <a:srgbClr val="C9D3E3"/>
                </a:solidFill>
                <a:latin typeface="Arial" pitchFamily="34" charset="0"/>
                <a:ea typeface="Arial" pitchFamily="34" charset="-122"/>
                <a:cs typeface="Arial" pitchFamily="34" charset="-120"/>
              </a:rPr>
              <a:t>The push starts a workflow: release, then website</a:t>
            </a:r>
            <a:endParaRPr lang="en-US" sz="1400" dirty="0"/>
          </a:p>
          <a:p>
            <a:pPr algn="l" marL="156718" indent="-156718">
              <a:lnSpc>
                <a:spcPts val="1960"/>
              </a:lnSpc>
              <a:buSzPct val="100000"/>
              <a:buChar char="•"/>
            </a:pPr>
            <a:r>
              <a:rPr lang="en-US" sz="1400" dirty="0">
                <a:solidFill>
                  <a:srgbClr val="C9D3E3"/>
                </a:solidFill>
                <a:latin typeface="Arial" pitchFamily="34" charset="0"/>
                <a:ea typeface="Arial" pitchFamily="34" charset="-122"/>
                <a:cs typeface="Arial" pitchFamily="34" charset="-120"/>
              </a:rPr>
              <a:t>Claude writes a report of the run</a:t>
            </a:r>
            <a:endParaRPr lang="en-US" sz="1400" dirty="0"/>
          </a:p>
        </p:txBody>
      </p:sp>
      <p:sp>
        <p:nvSpPr>
          <p:cNvPr id="12"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9A4E12"/>
                </a:solidFill>
                <a:latin typeface="Arial" pitchFamily="34" charset="0"/>
                <a:ea typeface="Arial" pitchFamily="34" charset="-122"/>
                <a:cs typeface="Arial" pitchFamily="34" charset="-120"/>
              </a:rPr>
              <a:t>AFTER THE PUSH</a:t>
            </a:r>
            <a:endParaRPr lang="en-US" sz="1300" dirty="0"/>
          </a:p>
        </p:txBody>
      </p:sp>
      <p:sp>
        <p:nvSpPr>
          <p:cNvPr id="3" name="Text 1"/>
          <p:cNvSpPr/>
          <p:nvPr>
            <p:ph type="title"/>
          </p:nvPr>
        </p:nvSpPr>
        <p:spPr>
          <a:xfrm>
            <a:off x="812800" y="1145542"/>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3A"/>
                </a:solidFill>
                <a:latin typeface="Arial" pitchFamily="34" charset="0"/>
                <a:ea typeface="Arial" pitchFamily="34" charset="-122"/>
                <a:cs typeface="Arial" pitchFamily="34" charset="-120"/>
              </a:rPr>
              <a:t>GitHub Actions publishes the episode</a:t>
            </a:r>
            <a:endParaRPr lang="en-US" sz="3600" dirty="0"/>
          </a:p>
        </p:txBody>
      </p:sp>
      <p:sp>
        <p:nvSpPr>
          <p:cNvPr id="4" name="Text 2"/>
          <p:cNvSpPr/>
          <p:nvPr/>
        </p:nvSpPr>
        <p:spPr>
          <a:xfrm>
            <a:off x="812800" y="1750064"/>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The cloud session is not allowed to publish anything itself. It pushes the episode to a branch </a:t>
            </a:r>
            <a:r>
              <a:rPr lang="en-US" sz="1500" b="1" dirty="0">
                <a:solidFill>
                  <a:srgbClr val="4A5568"/>
                </a:solidFill>
                <a:latin typeface="Arial" pitchFamily="34" charset="0"/>
                <a:ea typeface="Arial" pitchFamily="34" charset="-122"/>
                <a:cs typeface="Arial" pitchFamily="34" charset="-120"/>
              </a:rPr>
              <a:t>folge/&lt;date&gt;</a:t>
            </a:r>
            <a:r>
              <a:rPr lang="en-US" sz="1500" dirty="0">
                <a:solidFill>
                  <a:srgbClr val="4A5568"/>
                </a:solidFill>
                <a:latin typeface="Arial" pitchFamily="34" charset="0"/>
                <a:ea typeface="Arial" pitchFamily="34" charset="-122"/>
                <a:cs typeface="Arial" pitchFamily="34" charset="-120"/>
              </a:rPr>
              <a:t>, and that push starts the workflow.</a:t>
            </a:r>
            <a:endParaRPr lang="en-US" sz="1500" dirty="0"/>
          </a:p>
        </p:txBody>
      </p:sp>
      <p:sp>
        <p:nvSpPr>
          <p:cNvPr id="5" name="Shape 3"/>
          <p:cNvSpPr/>
          <p:nvPr/>
        </p:nvSpPr>
        <p:spPr>
          <a:xfrm>
            <a:off x="812800" y="2543814"/>
            <a:ext cx="10566400" cy="0"/>
          </a:xfrm>
          <a:prstGeom prst="line">
            <a:avLst/>
          </a:prstGeom>
          <a:noFill/>
          <a:ln w="12700">
            <a:solidFill>
              <a:srgbClr val="E3D5BD"/>
            </a:solidFill>
            <a:prstDash val="solid"/>
          </a:ln>
        </p:spPr>
      </p:sp>
      <p:sp>
        <p:nvSpPr>
          <p:cNvPr id="6" name="Text 4"/>
          <p:cNvSpPr/>
          <p:nvPr/>
        </p:nvSpPr>
        <p:spPr>
          <a:xfrm>
            <a:off x="812800" y="2661921"/>
            <a:ext cx="206216"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A4E12"/>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1171416" y="2697479"/>
            <a:ext cx="89581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13A"/>
                </a:solidFill>
                <a:latin typeface="Arial" pitchFamily="34" charset="0"/>
                <a:ea typeface="Arial" pitchFamily="34" charset="-122"/>
                <a:cs typeface="Arial" pitchFamily="34" charset="-120"/>
              </a:rPr>
              <a:t>Release:</a:t>
            </a:r>
            <a:r>
              <a:rPr lang="en-US" sz="1500" dirty="0">
                <a:solidFill>
                  <a:srgbClr val="16213A"/>
                </a:solidFill>
                <a:latin typeface="Arial" pitchFamily="34" charset="0"/>
                <a:ea typeface="Arial" pitchFamily="34" charset="-122"/>
                <a:cs typeface="Arial" pitchFamily="34" charset="-120"/>
              </a:rPr>
              <a:t> MP3, chapters, transcript, Spotify text and thumbnail become a GitHub release</a:t>
            </a:r>
            <a:endParaRPr lang="en-US" sz="1500" dirty="0"/>
          </a:p>
        </p:txBody>
      </p:sp>
      <p:sp>
        <p:nvSpPr>
          <p:cNvPr id="8" name="Shape 6"/>
          <p:cNvSpPr/>
          <p:nvPr/>
        </p:nvSpPr>
        <p:spPr>
          <a:xfrm>
            <a:off x="812800" y="3084829"/>
            <a:ext cx="10566400" cy="0"/>
          </a:xfrm>
          <a:prstGeom prst="line">
            <a:avLst/>
          </a:prstGeom>
          <a:noFill/>
          <a:ln w="12700">
            <a:solidFill>
              <a:srgbClr val="E3D5BD"/>
            </a:solidFill>
            <a:prstDash val="solid"/>
          </a:ln>
        </p:spPr>
      </p:sp>
      <p:sp>
        <p:nvSpPr>
          <p:cNvPr id="9" name="Text 7"/>
          <p:cNvSpPr/>
          <p:nvPr/>
        </p:nvSpPr>
        <p:spPr>
          <a:xfrm>
            <a:off x="812800" y="3202942"/>
            <a:ext cx="206216"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A4E12"/>
                </a:solidFill>
                <a:latin typeface="Arial" pitchFamily="34" charset="0"/>
                <a:ea typeface="Arial" pitchFamily="34" charset="-122"/>
                <a:cs typeface="Arial" pitchFamily="34" charset="-120"/>
              </a:rPr>
              <a:t>2</a:t>
            </a:r>
            <a:endParaRPr lang="en-US" sz="2200" dirty="0"/>
          </a:p>
        </p:txBody>
      </p:sp>
      <p:sp>
        <p:nvSpPr>
          <p:cNvPr id="10" name="Text 8"/>
          <p:cNvSpPr/>
          <p:nvPr/>
        </p:nvSpPr>
        <p:spPr>
          <a:xfrm>
            <a:off x="1171416" y="3238500"/>
            <a:ext cx="77007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13A"/>
                </a:solidFill>
                <a:latin typeface="Arial" pitchFamily="34" charset="0"/>
                <a:ea typeface="Arial" pitchFamily="34" charset="-122"/>
                <a:cs typeface="Arial" pitchFamily="34" charset="-120"/>
              </a:rPr>
              <a:t>Build:</a:t>
            </a:r>
            <a:r>
              <a:rPr lang="en-US" sz="1500" dirty="0">
                <a:solidFill>
                  <a:srgbClr val="16213A"/>
                </a:solidFill>
                <a:latin typeface="Arial" pitchFamily="34" charset="0"/>
                <a:ea typeface="Arial" pitchFamily="34" charset="-122"/>
                <a:cs typeface="Arial" pitchFamily="34" charset="-120"/>
              </a:rPr>
              <a:t> fetches the older episodes, then builds the website and the RSS feed</a:t>
            </a:r>
            <a:endParaRPr lang="en-US" sz="1500" dirty="0"/>
          </a:p>
        </p:txBody>
      </p:sp>
      <p:sp>
        <p:nvSpPr>
          <p:cNvPr id="11" name="Shape 9"/>
          <p:cNvSpPr/>
          <p:nvPr/>
        </p:nvSpPr>
        <p:spPr>
          <a:xfrm>
            <a:off x="812800" y="3625850"/>
            <a:ext cx="10566400" cy="0"/>
          </a:xfrm>
          <a:prstGeom prst="line">
            <a:avLst/>
          </a:prstGeom>
          <a:noFill/>
          <a:ln w="12700">
            <a:solidFill>
              <a:srgbClr val="E3D5BD"/>
            </a:solidFill>
            <a:prstDash val="solid"/>
          </a:ln>
        </p:spPr>
      </p:sp>
      <p:sp>
        <p:nvSpPr>
          <p:cNvPr id="12" name="Text 10"/>
          <p:cNvSpPr/>
          <p:nvPr/>
        </p:nvSpPr>
        <p:spPr>
          <a:xfrm>
            <a:off x="812800" y="3743964"/>
            <a:ext cx="206216"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A4E12"/>
                </a:solidFill>
                <a:latin typeface="Arial" pitchFamily="34" charset="0"/>
                <a:ea typeface="Arial" pitchFamily="34" charset="-122"/>
                <a:cs typeface="Arial" pitchFamily="34" charset="-120"/>
              </a:rPr>
              <a:t>3</a:t>
            </a:r>
            <a:endParaRPr lang="en-US" sz="2200" dirty="0"/>
          </a:p>
        </p:txBody>
      </p:sp>
      <p:sp>
        <p:nvSpPr>
          <p:cNvPr id="13" name="Text 11"/>
          <p:cNvSpPr/>
          <p:nvPr/>
        </p:nvSpPr>
        <p:spPr>
          <a:xfrm>
            <a:off x="1171416" y="3779521"/>
            <a:ext cx="837361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13A"/>
                </a:solidFill>
                <a:latin typeface="Arial" pitchFamily="34" charset="0"/>
                <a:ea typeface="Arial" pitchFamily="34" charset="-122"/>
                <a:cs typeface="Arial" pitchFamily="34" charset="-120"/>
              </a:rPr>
              <a:t>Deploy:</a:t>
            </a:r>
            <a:r>
              <a:rPr lang="en-US" sz="1500" dirty="0">
                <a:solidFill>
                  <a:srgbClr val="16213A"/>
                </a:solidFill>
                <a:latin typeface="Arial" pitchFamily="34" charset="0"/>
                <a:ea typeface="Arial" pitchFamily="34" charset="-122"/>
                <a:cs typeface="Arial" pitchFamily="34" charset="-120"/>
              </a:rPr>
              <a:t> uploads the site to Cloudflare Pages, with a token kept as a GitHub secret</a:t>
            </a:r>
            <a:endParaRPr lang="en-US" sz="1500" dirty="0"/>
          </a:p>
        </p:txBody>
      </p:sp>
      <p:sp>
        <p:nvSpPr>
          <p:cNvPr id="14" name="Shape 12"/>
          <p:cNvSpPr/>
          <p:nvPr/>
        </p:nvSpPr>
        <p:spPr>
          <a:xfrm>
            <a:off x="812800" y="4166871"/>
            <a:ext cx="10566400" cy="0"/>
          </a:xfrm>
          <a:prstGeom prst="line">
            <a:avLst/>
          </a:prstGeom>
          <a:noFill/>
          <a:ln w="12700">
            <a:solidFill>
              <a:srgbClr val="E3D5BD"/>
            </a:solidFill>
            <a:prstDash val="solid"/>
          </a:ln>
        </p:spPr>
      </p:sp>
      <p:sp>
        <p:nvSpPr>
          <p:cNvPr id="15" name="Text 13"/>
          <p:cNvSpPr/>
          <p:nvPr/>
        </p:nvSpPr>
        <p:spPr>
          <a:xfrm>
            <a:off x="812800" y="4284979"/>
            <a:ext cx="206216"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A4E12"/>
                </a:solidFill>
                <a:latin typeface="Arial" pitchFamily="34" charset="0"/>
                <a:ea typeface="Arial" pitchFamily="34" charset="-122"/>
                <a:cs typeface="Arial" pitchFamily="34" charset="-120"/>
              </a:rPr>
              <a:t>4</a:t>
            </a:r>
            <a:endParaRPr lang="en-US" sz="2200" dirty="0"/>
          </a:p>
        </p:txBody>
      </p:sp>
      <p:sp>
        <p:nvSpPr>
          <p:cNvPr id="16" name="Text 14"/>
          <p:cNvSpPr/>
          <p:nvPr/>
        </p:nvSpPr>
        <p:spPr>
          <a:xfrm>
            <a:off x="1171416" y="4320542"/>
            <a:ext cx="652719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13A"/>
                </a:solidFill>
                <a:latin typeface="Arial" pitchFamily="34" charset="0"/>
                <a:ea typeface="Arial" pitchFamily="34" charset="-122"/>
                <a:cs typeface="Arial" pitchFamily="34" charset="-120"/>
              </a:rPr>
              <a:t>Write back:</a:t>
            </a:r>
            <a:r>
              <a:rPr lang="en-US" sz="1500" dirty="0">
                <a:solidFill>
                  <a:srgbClr val="16213A"/>
                </a:solidFill>
                <a:latin typeface="Arial" pitchFamily="34" charset="0"/>
                <a:ea typeface="Arial" pitchFamily="34" charset="-122"/>
                <a:cs typeface="Arial" pitchFamily="34" charset="-120"/>
              </a:rPr>
              <a:t> marks the episode as published on the main branch</a:t>
            </a:r>
            <a:endParaRPr lang="en-US" sz="1500" dirty="0"/>
          </a:p>
        </p:txBody>
      </p:sp>
      <p:sp>
        <p:nvSpPr>
          <p:cNvPr id="17" name="Shape 15"/>
          <p:cNvSpPr/>
          <p:nvPr/>
        </p:nvSpPr>
        <p:spPr>
          <a:xfrm>
            <a:off x="812800" y="4707892"/>
            <a:ext cx="10566400" cy="0"/>
          </a:xfrm>
          <a:prstGeom prst="line">
            <a:avLst/>
          </a:prstGeom>
          <a:noFill/>
          <a:ln w="12700">
            <a:solidFill>
              <a:srgbClr val="E3D5BD"/>
            </a:solidFill>
            <a:prstDash val="solid"/>
          </a:ln>
        </p:spPr>
      </p:sp>
      <p:sp>
        <p:nvSpPr>
          <p:cNvPr id="18" name="Shape 16"/>
          <p:cNvSpPr/>
          <p:nvPr/>
        </p:nvSpPr>
        <p:spPr>
          <a:xfrm>
            <a:off x="812800" y="5246372"/>
            <a:ext cx="10566400" cy="0"/>
          </a:xfrm>
          <a:prstGeom prst="line">
            <a:avLst/>
          </a:prstGeom>
          <a:noFill/>
          <a:ln w="12700">
            <a:solidFill>
              <a:srgbClr val="E3D5BD"/>
            </a:solidFill>
            <a:prstDash val="solid"/>
          </a:ln>
        </p:spPr>
      </p:sp>
      <p:sp>
        <p:nvSpPr>
          <p:cNvPr id="19" name="Text 17"/>
          <p:cNvSpPr/>
          <p:nvPr/>
        </p:nvSpPr>
        <p:spPr>
          <a:xfrm>
            <a:off x="812800" y="4826000"/>
            <a:ext cx="206216"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9A4E12"/>
                </a:solidFill>
                <a:latin typeface="Arial" pitchFamily="34" charset="0"/>
                <a:ea typeface="Arial" pitchFamily="34" charset="-122"/>
                <a:cs typeface="Arial" pitchFamily="34" charset="-120"/>
              </a:rPr>
              <a:t>5</a:t>
            </a:r>
            <a:endParaRPr lang="en-US" sz="2200" dirty="0"/>
          </a:p>
        </p:txBody>
      </p:sp>
      <p:sp>
        <p:nvSpPr>
          <p:cNvPr id="20" name="Text 18"/>
          <p:cNvSpPr/>
          <p:nvPr/>
        </p:nvSpPr>
        <p:spPr>
          <a:xfrm>
            <a:off x="1171416" y="4861564"/>
            <a:ext cx="719156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13A"/>
                </a:solidFill>
                <a:latin typeface="Arial" pitchFamily="34" charset="0"/>
                <a:ea typeface="Arial" pitchFamily="34" charset="-122"/>
                <a:cs typeface="Arial" pitchFamily="34" charset="-120"/>
              </a:rPr>
              <a:t>Clean up:</a:t>
            </a:r>
            <a:r>
              <a:rPr lang="en-US" sz="1500" dirty="0">
                <a:solidFill>
                  <a:srgbClr val="16213A"/>
                </a:solidFill>
                <a:latin typeface="Arial" pitchFamily="34" charset="0"/>
                <a:ea typeface="Arial" pitchFamily="34" charset="-122"/>
                <a:cs typeface="Arial" pitchFamily="34" charset="-120"/>
              </a:rPr>
              <a:t> deletes the branch, so the MP3 never stays in the repository</a:t>
            </a:r>
            <a:endParaRPr lang="en-US" sz="1500" dirty="0"/>
          </a:p>
        </p:txBody>
      </p:sp>
      <p:sp>
        <p:nvSpPr>
          <p:cNvPr id="21" name="Text 1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4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9A4E12"/>
                </a:solidFill>
                <a:latin typeface="Arial" pitchFamily="34" charset="0"/>
                <a:ea typeface="Arial" pitchFamily="34" charset="-122"/>
                <a:cs typeface="Arial" pitchFamily="34" charset="-120"/>
              </a:rPr>
              <a:t>LESSONS</a:t>
            </a:r>
            <a:endParaRPr lang="en-US" sz="1300" dirty="0"/>
          </a:p>
        </p:txBody>
      </p:sp>
      <p:sp>
        <p:nvSpPr>
          <p:cNvPr id="3" name="Text 1"/>
          <p:cNvSpPr/>
          <p:nvPr>
            <p:ph type="title"/>
          </p:nvPr>
        </p:nvSpPr>
        <p:spPr>
          <a:xfrm>
            <a:off x="812800" y="1145542"/>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213A"/>
                </a:solidFill>
                <a:latin typeface="Arial" pitchFamily="34" charset="0"/>
                <a:ea typeface="Arial" pitchFamily="34" charset="-122"/>
                <a:cs typeface="Arial" pitchFamily="34" charset="-120"/>
              </a:rPr>
              <a:t>What AI did easily, and what it didn’t</a:t>
            </a:r>
            <a:endParaRPr lang="en-US" sz="3600" dirty="0"/>
          </a:p>
        </p:txBody>
      </p:sp>
      <p:sp>
        <p:nvSpPr>
          <p:cNvPr id="4" name="Shape 2"/>
          <p:cNvSpPr/>
          <p:nvPr/>
        </p:nvSpPr>
        <p:spPr>
          <a:xfrm>
            <a:off x="812800" y="1959614"/>
            <a:ext cx="10566400" cy="0"/>
          </a:xfrm>
          <a:prstGeom prst="line">
            <a:avLst/>
          </a:prstGeom>
          <a:noFill/>
          <a:ln w="12700">
            <a:solidFill>
              <a:srgbClr val="E3D5BD"/>
            </a:solidFill>
            <a:prstDash val="solid"/>
          </a:ln>
        </p:spPr>
      </p:sp>
      <p:pic>
        <p:nvPicPr>
          <p:cNvPr id="5" name="Image 0" descr="CheckCircle">    </p:cNvPr>
          <p:cNvPicPr>
            <a:picLocks noChangeAspect="1"/>
          </p:cNvPicPr>
          <p:nvPr/>
        </p:nvPicPr>
        <p:blipFill>
          <a:blip r:embed="rId1"/>
          <a:srcRect l="0" r="0" t="0" b="0"/>
          <a:stretch/>
        </p:blipFill>
        <p:spPr>
          <a:xfrm>
            <a:off x="812800" y="2103121"/>
            <a:ext cx="304800" cy="304800"/>
          </a:xfrm>
          <a:prstGeom prst="rect">
            <a:avLst/>
          </a:prstGeom>
        </p:spPr>
      </p:pic>
      <p:sp>
        <p:nvSpPr>
          <p:cNvPr id="6" name="Text 3"/>
          <p:cNvSpPr/>
          <p:nvPr/>
        </p:nvSpPr>
        <p:spPr>
          <a:xfrm>
            <a:off x="1320800" y="2104392"/>
            <a:ext cx="262109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6213A"/>
                </a:solidFill>
                <a:latin typeface="Arial" pitchFamily="34" charset="0"/>
                <a:ea typeface="Arial" pitchFamily="34" charset="-122"/>
                <a:cs typeface="Arial" pitchFamily="34" charset="-120"/>
              </a:rPr>
              <a:t>Research:</a:t>
            </a:r>
            <a:r>
              <a:rPr lang="en-US" sz="1700" dirty="0">
                <a:solidFill>
                  <a:srgbClr val="16213A"/>
                </a:solidFill>
                <a:latin typeface="Arial" pitchFamily="34" charset="0"/>
                <a:ea typeface="Arial" pitchFamily="34" charset="-122"/>
                <a:cs typeface="Arial" pitchFamily="34" charset="-120"/>
              </a:rPr>
              <a:t> no problem</a:t>
            </a:r>
            <a:endParaRPr lang="en-US" sz="1700" dirty="0"/>
          </a:p>
        </p:txBody>
      </p:sp>
      <p:sp>
        <p:nvSpPr>
          <p:cNvPr id="7" name="Shape 4"/>
          <p:cNvSpPr/>
          <p:nvPr/>
        </p:nvSpPr>
        <p:spPr>
          <a:xfrm>
            <a:off x="812800" y="2553971"/>
            <a:ext cx="10566400" cy="0"/>
          </a:xfrm>
          <a:prstGeom prst="line">
            <a:avLst/>
          </a:prstGeom>
          <a:noFill/>
          <a:ln w="12700">
            <a:solidFill>
              <a:srgbClr val="E3D5BD"/>
            </a:solidFill>
            <a:prstDash val="solid"/>
          </a:ln>
        </p:spPr>
      </p:sp>
      <p:pic>
        <p:nvPicPr>
          <p:cNvPr id="8" name="Image 1" descr="CheckCircle">    </p:cNvPr>
          <p:cNvPicPr>
            <a:picLocks noChangeAspect="1"/>
          </p:cNvPicPr>
          <p:nvPr/>
        </p:nvPicPr>
        <p:blipFill>
          <a:blip r:embed="rId2"/>
          <a:srcRect l="0" r="0" t="0" b="0"/>
          <a:stretch/>
        </p:blipFill>
        <p:spPr>
          <a:xfrm>
            <a:off x="812800" y="2697479"/>
            <a:ext cx="304800" cy="304800"/>
          </a:xfrm>
          <a:prstGeom prst="rect">
            <a:avLst/>
          </a:prstGeom>
        </p:spPr>
      </p:pic>
      <p:sp>
        <p:nvSpPr>
          <p:cNvPr id="9" name="Text 5"/>
          <p:cNvSpPr/>
          <p:nvPr/>
        </p:nvSpPr>
        <p:spPr>
          <a:xfrm>
            <a:off x="1320800" y="2698750"/>
            <a:ext cx="3579971"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6213A"/>
                </a:solidFill>
                <a:latin typeface="Arial" pitchFamily="34" charset="0"/>
                <a:ea typeface="Arial" pitchFamily="34" charset="-122"/>
                <a:cs typeface="Arial" pitchFamily="34" charset="-120"/>
              </a:rPr>
              <a:t>Writing the script:</a:t>
            </a:r>
            <a:r>
              <a:rPr lang="en-US" sz="1700" dirty="0">
                <a:solidFill>
                  <a:srgbClr val="16213A"/>
                </a:solidFill>
                <a:latin typeface="Arial" pitchFamily="34" charset="0"/>
                <a:ea typeface="Arial" pitchFamily="34" charset="-122"/>
                <a:cs typeface="Arial" pitchFamily="34" charset="-120"/>
              </a:rPr>
              <a:t> no problem</a:t>
            </a:r>
            <a:endParaRPr lang="en-US" sz="1700" dirty="0"/>
          </a:p>
        </p:txBody>
      </p:sp>
      <p:sp>
        <p:nvSpPr>
          <p:cNvPr id="10" name="Shape 6"/>
          <p:cNvSpPr/>
          <p:nvPr/>
        </p:nvSpPr>
        <p:spPr>
          <a:xfrm>
            <a:off x="812800" y="3148329"/>
            <a:ext cx="10566400" cy="0"/>
          </a:xfrm>
          <a:prstGeom prst="line">
            <a:avLst/>
          </a:prstGeom>
          <a:noFill/>
          <a:ln w="12700">
            <a:solidFill>
              <a:srgbClr val="E3D5BD"/>
            </a:solidFill>
            <a:prstDash val="solid"/>
          </a:ln>
        </p:spPr>
      </p:sp>
      <p:pic>
        <p:nvPicPr>
          <p:cNvPr id="11" name="Image 2" descr="CheckCircle">    </p:cNvPr>
          <p:cNvPicPr>
            <a:picLocks noChangeAspect="1"/>
          </p:cNvPicPr>
          <p:nvPr/>
        </p:nvPicPr>
        <p:blipFill>
          <a:blip r:embed="rId3"/>
          <a:srcRect l="0" r="0" t="0" b="0"/>
          <a:stretch/>
        </p:blipFill>
        <p:spPr>
          <a:xfrm>
            <a:off x="812800" y="3291842"/>
            <a:ext cx="304800" cy="304800"/>
          </a:xfrm>
          <a:prstGeom prst="rect">
            <a:avLst/>
          </a:prstGeom>
        </p:spPr>
      </p:pic>
      <p:sp>
        <p:nvSpPr>
          <p:cNvPr id="12" name="Text 7"/>
          <p:cNvSpPr/>
          <p:nvPr/>
        </p:nvSpPr>
        <p:spPr>
          <a:xfrm>
            <a:off x="1320800" y="3293114"/>
            <a:ext cx="4997482"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6213A"/>
                </a:solidFill>
                <a:latin typeface="Arial" pitchFamily="34" charset="0"/>
                <a:ea typeface="Arial" pitchFamily="34" charset="-122"/>
                <a:cs typeface="Arial" pitchFamily="34" charset="-120"/>
              </a:rPr>
              <a:t>Images</a:t>
            </a:r>
            <a:r>
              <a:rPr lang="en-US" sz="1700" dirty="0">
                <a:solidFill>
                  <a:srgbClr val="16213A"/>
                </a:solidFill>
                <a:latin typeface="Arial" pitchFamily="34" charset="0"/>
                <a:ea typeface="Arial" pitchFamily="34" charset="-122"/>
                <a:cs typeface="Arial" pitchFamily="34" charset="-120"/>
              </a:rPr>
              <a:t> with Nano Banana Pro: no problem</a:t>
            </a:r>
            <a:endParaRPr lang="en-US" sz="1700" dirty="0"/>
          </a:p>
        </p:txBody>
      </p:sp>
      <p:sp>
        <p:nvSpPr>
          <p:cNvPr id="13" name="Shape 8"/>
          <p:cNvSpPr/>
          <p:nvPr/>
        </p:nvSpPr>
        <p:spPr>
          <a:xfrm>
            <a:off x="812800" y="3742692"/>
            <a:ext cx="10566400" cy="0"/>
          </a:xfrm>
          <a:prstGeom prst="line">
            <a:avLst/>
          </a:prstGeom>
          <a:noFill/>
          <a:ln w="12700">
            <a:solidFill>
              <a:srgbClr val="E3D5BD"/>
            </a:solidFill>
            <a:prstDash val="solid"/>
          </a:ln>
        </p:spPr>
      </p:sp>
      <p:pic>
        <p:nvPicPr>
          <p:cNvPr id="14" name="Image 3" descr="CheckCircle">    </p:cNvPr>
          <p:cNvPicPr>
            <a:picLocks noChangeAspect="1"/>
          </p:cNvPicPr>
          <p:nvPr/>
        </p:nvPicPr>
        <p:blipFill>
          <a:blip r:embed="rId4"/>
          <a:srcRect l="0" r="0" t="0" b="0"/>
          <a:stretch/>
        </p:blipFill>
        <p:spPr>
          <a:xfrm>
            <a:off x="812800" y="3886200"/>
            <a:ext cx="304800" cy="304800"/>
          </a:xfrm>
          <a:prstGeom prst="rect">
            <a:avLst/>
          </a:prstGeom>
        </p:spPr>
      </p:pic>
      <p:sp>
        <p:nvSpPr>
          <p:cNvPr id="15" name="Text 9"/>
          <p:cNvSpPr/>
          <p:nvPr/>
        </p:nvSpPr>
        <p:spPr>
          <a:xfrm>
            <a:off x="1320800" y="3887471"/>
            <a:ext cx="7344632"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6213A"/>
                </a:solidFill>
                <a:latin typeface="Arial" pitchFamily="34" charset="0"/>
                <a:ea typeface="Arial" pitchFamily="34" charset="-122"/>
                <a:cs typeface="Arial" pitchFamily="34" charset="-120"/>
              </a:rPr>
              <a:t>Music</a:t>
            </a:r>
            <a:r>
              <a:rPr lang="en-US" sz="1700" dirty="0">
                <a:solidFill>
                  <a:srgbClr val="16213A"/>
                </a:solidFill>
                <a:latin typeface="Arial" pitchFamily="34" charset="0"/>
                <a:ea typeface="Arial" pitchFamily="34" charset="-122"/>
                <a:cs typeface="Arial" pitchFamily="34" charset="-120"/>
              </a:rPr>
              <a:t> for the intro and the breaks, made with Suno: no problem</a:t>
            </a:r>
            <a:endParaRPr lang="en-US" sz="1700" dirty="0"/>
          </a:p>
        </p:txBody>
      </p:sp>
      <p:sp>
        <p:nvSpPr>
          <p:cNvPr id="16" name="Shape 10"/>
          <p:cNvSpPr/>
          <p:nvPr/>
        </p:nvSpPr>
        <p:spPr>
          <a:xfrm>
            <a:off x="812800" y="4337050"/>
            <a:ext cx="10566400" cy="0"/>
          </a:xfrm>
          <a:prstGeom prst="line">
            <a:avLst/>
          </a:prstGeom>
          <a:noFill/>
          <a:ln w="12700">
            <a:solidFill>
              <a:srgbClr val="E3D5BD"/>
            </a:solidFill>
            <a:prstDash val="solid"/>
          </a:ln>
        </p:spPr>
      </p:sp>
      <p:sp>
        <p:nvSpPr>
          <p:cNvPr id="17" name="Shape 11"/>
          <p:cNvSpPr/>
          <p:nvPr/>
        </p:nvSpPr>
        <p:spPr>
          <a:xfrm>
            <a:off x="812800" y="4928870"/>
            <a:ext cx="10566400" cy="0"/>
          </a:xfrm>
          <a:prstGeom prst="line">
            <a:avLst/>
          </a:prstGeom>
          <a:noFill/>
          <a:ln w="12700">
            <a:solidFill>
              <a:srgbClr val="E3D5BD"/>
            </a:solidFill>
            <a:prstDash val="solid"/>
          </a:ln>
        </p:spPr>
      </p:sp>
      <p:pic>
        <p:nvPicPr>
          <p:cNvPr id="18" name="Image 4" descr="Warning">    </p:cNvPr>
          <p:cNvPicPr>
            <a:picLocks noChangeAspect="1"/>
          </p:cNvPicPr>
          <p:nvPr/>
        </p:nvPicPr>
        <p:blipFill>
          <a:blip r:embed="rId5"/>
          <a:srcRect l="0" r="0" t="0" b="0"/>
          <a:stretch/>
        </p:blipFill>
        <p:spPr>
          <a:xfrm>
            <a:off x="812800" y="4480564"/>
            <a:ext cx="304800" cy="304800"/>
          </a:xfrm>
          <a:prstGeom prst="rect">
            <a:avLst/>
          </a:prstGeom>
        </p:spPr>
      </p:pic>
      <p:sp>
        <p:nvSpPr>
          <p:cNvPr id="19" name="Text 12"/>
          <p:cNvSpPr/>
          <p:nvPr/>
        </p:nvSpPr>
        <p:spPr>
          <a:xfrm>
            <a:off x="1320800" y="4481829"/>
            <a:ext cx="8793004"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6213A"/>
                </a:solidFill>
                <a:latin typeface="Arial" pitchFamily="34" charset="0"/>
                <a:ea typeface="Arial" pitchFamily="34" charset="-122"/>
                <a:cs typeface="Arial" pitchFamily="34" charset="-120"/>
              </a:rPr>
              <a:t>Voices:</a:t>
            </a:r>
            <a:r>
              <a:rPr lang="en-US" sz="1700" dirty="0">
                <a:solidFill>
                  <a:srgbClr val="16213A"/>
                </a:solidFill>
                <a:latin typeface="Arial" pitchFamily="34" charset="0"/>
                <a:ea typeface="Arial" pitchFamily="34" charset="-122"/>
                <a:cs typeface="Arial" pitchFamily="34" charset="-120"/>
              </a:rPr>
              <a:t> easy to generate, but </a:t>
            </a:r>
            <a:r>
              <a:rPr lang="en-US" sz="1700" b="1" dirty="0">
                <a:solidFill>
                  <a:srgbClr val="16213A"/>
                </a:solidFill>
                <a:latin typeface="Arial" pitchFamily="34" charset="0"/>
                <a:ea typeface="Arial" pitchFamily="34" charset="-122"/>
                <a:cs typeface="Arial" pitchFamily="34" charset="-120"/>
              </a:rPr>
              <a:t>abbreviations</a:t>
            </a:r>
            <a:r>
              <a:rPr lang="en-US" sz="1700" dirty="0">
                <a:solidFill>
                  <a:srgbClr val="16213A"/>
                </a:solidFill>
                <a:latin typeface="Arial" pitchFamily="34" charset="0"/>
                <a:ea typeface="Arial" pitchFamily="34" charset="-122"/>
                <a:cs typeface="Arial" pitchFamily="34" charset="-120"/>
              </a:rPr>
              <a:t> are a problem: “KI”, “IT”, “USA”</a:t>
            </a:r>
            <a:endParaRPr lang="en-US" sz="1700" dirty="0"/>
          </a:p>
        </p:txBody>
      </p:sp>
      <p:sp>
        <p:nvSpPr>
          <p:cNvPr id="20"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13A"/>
        </a:solidFill>
      </p:bgPr>
    </p:bg>
    <p:spTree>
      <p:nvGrpSpPr>
        <p:cNvPr id="1" name=""/>
        <p:cNvGrpSpPr/>
        <p:nvPr/>
      </p:nvGrpSpPr>
      <p:grpSpPr>
        <a:xfrm>
          <a:off x="0" y="0"/>
          <a:ext cx="0" cy="0"/>
          <a:chOff x="0" y="0"/>
          <a:chExt cx="0" cy="0"/>
        </a:xfrm>
      </p:grpSpPr>
      <p:sp>
        <p:nvSpPr>
          <p:cNvPr id="2" name="Text 0"/>
          <p:cNvSpPr/>
          <p:nvPr>
            <p:ph type="title"/>
          </p:nvPr>
        </p:nvSpPr>
        <p:spPr>
          <a:xfrm>
            <a:off x="812800" y="1535429"/>
            <a:ext cx="6592824"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BF4E8"/>
                </a:solidFill>
                <a:latin typeface="Arial" pitchFamily="34" charset="0"/>
                <a:ea typeface="Arial" pitchFamily="34" charset="-122"/>
                <a:cs typeface="Arial" pitchFamily="34" charset="-120"/>
              </a:rPr>
              <a:t>Listen in, and questions</a:t>
            </a:r>
            <a:endParaRPr lang="en-US" sz="6000" dirty="0"/>
          </a:p>
        </p:txBody>
      </p:sp>
      <p:sp>
        <p:nvSpPr>
          <p:cNvPr id="3" name="Text 1"/>
          <p:cNvSpPr/>
          <p:nvPr/>
        </p:nvSpPr>
        <p:spPr>
          <a:xfrm>
            <a:off x="812800" y="3389629"/>
            <a:ext cx="6592824"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2A341"/>
                </a:solidFill>
                <a:latin typeface="Arial" pitchFamily="34" charset="0"/>
                <a:ea typeface="Arial" pitchFamily="34" charset="-122"/>
                <a:cs typeface="Arial" pitchFamily="34" charset="-120"/>
              </a:rPr>
              <a:t>THE PODCAST (IN GERMAN)</a:t>
            </a:r>
            <a:endParaRPr lang="en-US" sz="1300" dirty="0"/>
          </a:p>
        </p:txBody>
      </p:sp>
      <p:sp>
        <p:nvSpPr>
          <p:cNvPr id="4" name="Text 2"/>
          <p:cNvSpPr/>
          <p:nvPr/>
        </p:nvSpPr>
        <p:spPr>
          <a:xfrm>
            <a:off x="812800" y="3747771"/>
            <a:ext cx="6592824"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BF4E8"/>
                </a:solidFill>
                <a:latin typeface="Arial" pitchFamily="34" charset="0"/>
                <a:ea typeface="Arial" pitchFamily="34" charset="-122"/>
                <a:cs typeface="Arial" pitchFamily="34" charset="-120"/>
              </a:rPr>
              <a:t>pro-und-contra-ki-und-it-news.pages.dev</a:t>
            </a:r>
            <a:endParaRPr lang="en-US" sz="1800" dirty="0"/>
          </a:p>
        </p:txBody>
      </p:sp>
      <p:sp>
        <p:nvSpPr>
          <p:cNvPr id="5" name="Text 3"/>
          <p:cNvSpPr/>
          <p:nvPr/>
        </p:nvSpPr>
        <p:spPr>
          <a:xfrm>
            <a:off x="812800" y="4194814"/>
            <a:ext cx="659282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E3"/>
                </a:solidFill>
                <a:latin typeface="Arial" pitchFamily="34" charset="0"/>
                <a:ea typeface="Arial" pitchFamily="34" charset="-122"/>
                <a:cs typeface="Arial" pitchFamily="34" charset="-120"/>
              </a:rPr>
              <a:t>also on Spotify, Apple Podcasts and YouTube: @proundcontra-ki-it-news</a:t>
            </a:r>
            <a:endParaRPr lang="en-US" sz="1500" dirty="0"/>
          </a:p>
        </p:txBody>
      </p:sp>
      <p:sp>
        <p:nvSpPr>
          <p:cNvPr id="6" name="Text 4"/>
          <p:cNvSpPr/>
          <p:nvPr/>
        </p:nvSpPr>
        <p:spPr>
          <a:xfrm>
            <a:off x="812800" y="4715514"/>
            <a:ext cx="6592824"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2A341"/>
                </a:solidFill>
                <a:latin typeface="Arial" pitchFamily="34" charset="0"/>
                <a:ea typeface="Arial" pitchFamily="34" charset="-122"/>
                <a:cs typeface="Arial" pitchFamily="34" charset="-120"/>
              </a:rPr>
              <a:t>ALL THE CODE</a:t>
            </a:r>
            <a:endParaRPr lang="en-US" sz="1300" dirty="0"/>
          </a:p>
        </p:txBody>
      </p:sp>
      <p:sp>
        <p:nvSpPr>
          <p:cNvPr id="7" name="Text 5"/>
          <p:cNvSpPr/>
          <p:nvPr/>
        </p:nvSpPr>
        <p:spPr>
          <a:xfrm>
            <a:off x="812800" y="5073650"/>
            <a:ext cx="65928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Arial" pitchFamily="34" charset="0"/>
                <a:ea typeface="Arial" pitchFamily="34" charset="-122"/>
                <a:cs typeface="Arial" pitchFamily="34" charset="-120"/>
              </a:rPr>
              <a:t>github.com/Stefan-Gernhardt/pro-und-contra-podcast-ki-und-it-news</a:t>
            </a:r>
            <a:endParaRPr lang="en-US" sz="1400" dirty="0"/>
          </a:p>
        </p:txBody>
      </p:sp>
      <p:pic>
        <p:nvPicPr>
          <p:cNvPr id="8" name="Image 0" descr="Podcast cover with Mr Sommer and Mr Mondschein">    </p:cNvPr>
          <p:cNvPicPr>
            <a:picLocks noChangeAspect="1"/>
          </p:cNvPicPr>
          <p:nvPr/>
        </p:nvPicPr>
        <p:blipFill>
          <a:blip r:embed="rId1"/>
          <a:srcRect l="0" r="0" t="0" b="0"/>
          <a:stretch/>
        </p:blipFill>
        <p:spPr>
          <a:xfrm>
            <a:off x="7823200" y="1651000"/>
            <a:ext cx="3556000" cy="3556000"/>
          </a:xfrm>
          <a:prstGeom prst="roundRect">
            <a:avLst>
              <a:gd name="adj" fmla="val 4286"/>
            </a:avLst>
          </a:prstGeom>
        </p:spPr>
      </p:pic>
    </p:spTree>
  </p:cSld>
  <p:clrMapOvr>
    <a:masterClrMapping/>
  </p:clrMapOvr>
</p:sld>
</file>

<file path=ppt/theme/theme1.xml><?xml version="1.0" encoding="utf-8"?>
<a:theme xmlns:a="http://schemas.openxmlformats.org/drawingml/2006/main" name="How the Podcast Is Made">
  <a:themeElements>
    <a:clrScheme name="How the Podcast Is Made">
      <a:dk1>
        <a:srgbClr val="16213A"/>
      </a:dk1>
      <a:lt1>
        <a:srgbClr val="FBF4E8"/>
      </a:lt1>
      <a:dk2>
        <a:srgbClr val="4F5666"/>
      </a:dk2>
      <a:lt2>
        <a:srgbClr val="E4DFD7"/>
      </a:lt2>
      <a:accent1>
        <a:srgbClr val="9A4E12"/>
      </a:accent1>
      <a:accent2>
        <a:srgbClr val="F2A341"/>
      </a:accent2>
      <a:accent3>
        <a:srgbClr val="4A5568"/>
      </a:accent3>
      <a:accent4>
        <a:srgbClr val="C9D3E3"/>
      </a:accent4>
      <a:accent5>
        <a:srgbClr val="6A7179"/>
      </a:accent5>
      <a:accent6>
        <a:srgbClr val="EFE3CF"/>
      </a:accent6>
      <a:hlink>
        <a:srgbClr val="0563C1"/>
      </a:hlink>
      <a:folHlink>
        <a:srgbClr val="954F72"/>
      </a:folHlink>
    </a:clrScheme>
    <a:fontScheme name="How the Podcast Is Mad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the Podcast Is Made</dc:title>
  <dc:subject/>
  <dc:creator/>
  <cp:lastModifiedBy/>
  <cp:revision>1</cp:revision>
  <dcterms:created xsi:type="dcterms:W3CDTF">2026-10-14T20:20:00Z</dcterms:created>
  <dcterms:modified xsi:type="dcterms:W3CDTF">2026-10-14T20:20:00Z</dcterms:modified>
</cp:coreProperties>
</file>